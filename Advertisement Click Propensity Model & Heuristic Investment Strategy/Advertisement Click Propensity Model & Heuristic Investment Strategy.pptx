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6" r:id="rId6"/>
    <p:sldId id="267" r:id="rId7"/>
    <p:sldId id="261" r:id="rId8"/>
    <p:sldId id="259" r:id="rId9"/>
    <p:sldId id="260" r:id="rId10"/>
    <p:sldId id="262" r:id="rId11"/>
    <p:sldId id="270" r:id="rId12"/>
    <p:sldId id="263" r:id="rId13"/>
    <p:sldId id="264" r:id="rId14"/>
    <p:sldId id="265" r:id="rId15"/>
    <p:sldId id="268" r:id="rId16"/>
    <p:sldId id="271" r:id="rId17"/>
    <p:sldId id="269" r:id="rId18"/>
    <p:sldId id="274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Advertisement Click propensity model &amp; heuristic </a:t>
            </a:r>
            <a:r>
              <a:rPr lang="en-GB" dirty="0" smtClean="0"/>
              <a:t>investment strategy case study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By Farshad Rastgouy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44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Cover a high level overview of methodology</a:t>
            </a:r>
          </a:p>
          <a:p>
            <a:r>
              <a:rPr lang="en-GB" dirty="0" smtClean="0"/>
              <a:t>Discuss model insights</a:t>
            </a:r>
          </a:p>
          <a:p>
            <a:r>
              <a:rPr lang="en-GB" dirty="0" smtClean="0"/>
              <a:t>Present heuristic </a:t>
            </a:r>
            <a:r>
              <a:rPr lang="en-GB" dirty="0" smtClean="0"/>
              <a:t>Investment strategy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3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49569"/>
            <a:ext cx="9905999" cy="4071668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First, we trained a model that can predict whether a user would click on an ad based on the number of impressions on each site</a:t>
            </a:r>
          </a:p>
          <a:p>
            <a:r>
              <a:rPr lang="en-GB" dirty="0" smtClean="0"/>
              <a:t>Opened up that model to determine what fields are contributing the most to it</a:t>
            </a:r>
          </a:p>
          <a:p>
            <a:r>
              <a:rPr lang="en-GB" dirty="0" smtClean="0"/>
              <a:t>Determined the profit (or ROI) of each site based on</a:t>
            </a:r>
          </a:p>
          <a:p>
            <a:pPr lvl="1"/>
            <a:r>
              <a:rPr lang="en-GB" dirty="0" smtClean="0"/>
              <a:t>The likelihood of how many clicks we would get from our predictions</a:t>
            </a:r>
          </a:p>
          <a:p>
            <a:pPr lvl="1"/>
            <a:r>
              <a:rPr lang="en-GB" dirty="0" smtClean="0"/>
              <a:t>Our total impressions</a:t>
            </a:r>
          </a:p>
          <a:p>
            <a:pPr lvl="1"/>
            <a:r>
              <a:rPr lang="en-GB" dirty="0" smtClean="0"/>
              <a:t>£8.42/click</a:t>
            </a:r>
          </a:p>
          <a:p>
            <a:pPr lvl="1"/>
            <a:r>
              <a:rPr lang="en-GB" dirty="0" smtClean="0"/>
              <a:t>£2.85/1000 impressions</a:t>
            </a:r>
          </a:p>
          <a:p>
            <a:r>
              <a:rPr lang="en-GB" dirty="0" smtClean="0"/>
              <a:t>Combined the ROI of each site with the model feature importance to formulate a priority score</a:t>
            </a:r>
          </a:p>
          <a:p>
            <a:r>
              <a:rPr lang="en-GB" dirty="0" smtClean="0"/>
              <a:t>Allocate a budget based on each site’s contribution to the total priority score of all sites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227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92702"/>
            <a:ext cx="9905999" cy="2941087"/>
          </a:xfrm>
        </p:spPr>
        <p:txBody>
          <a:bodyPr>
            <a:normAutofit/>
          </a:bodyPr>
          <a:lstStyle/>
          <a:p>
            <a:r>
              <a:rPr lang="en-GB" sz="2600" dirty="0" smtClean="0"/>
              <a:t>Created 5 groups of similar site functions and uses</a:t>
            </a:r>
          </a:p>
          <a:p>
            <a:r>
              <a:rPr lang="en-GB" sz="2600" dirty="0" smtClean="0"/>
              <a:t>Hierarchy goes: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	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46717" y="5055079"/>
            <a:ext cx="1268083" cy="586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6"/>
          <p:cNvSpPr/>
          <p:nvPr/>
        </p:nvSpPr>
        <p:spPr>
          <a:xfrm>
            <a:off x="6786113" y="5055079"/>
            <a:ext cx="1268083" cy="586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210422" y="4933789"/>
            <a:ext cx="1342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Sites</a:t>
            </a:r>
            <a:endParaRPr lang="en-GB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4408098" y="4933789"/>
            <a:ext cx="2234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Category</a:t>
            </a:r>
            <a:endParaRPr lang="en-GB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8341743" y="4933789"/>
            <a:ext cx="2234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Groups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2864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92702"/>
            <a:ext cx="9905999" cy="4106173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Social </a:t>
            </a:r>
            <a:r>
              <a:rPr lang="en-GB" dirty="0"/>
              <a:t>Engagement			: </a:t>
            </a:r>
            <a:r>
              <a:rPr lang="en-GB" dirty="0" smtClean="0"/>
              <a:t>Help </a:t>
            </a:r>
            <a:r>
              <a:rPr lang="en-GB" dirty="0"/>
              <a:t>you connect</a:t>
            </a:r>
            <a:endParaRPr lang="en-GB" dirty="0" smtClean="0"/>
          </a:p>
          <a:p>
            <a:pPr lvl="1"/>
            <a:r>
              <a:rPr lang="en-GB" dirty="0" smtClean="0"/>
              <a:t>Social Bookmarking, </a:t>
            </a:r>
          </a:p>
          <a:p>
            <a:pPr lvl="1"/>
            <a:r>
              <a:rPr lang="en-GB" dirty="0" smtClean="0"/>
              <a:t>Social Networking</a:t>
            </a:r>
          </a:p>
          <a:p>
            <a:r>
              <a:rPr lang="en-GB" dirty="0" smtClean="0"/>
              <a:t>Media Sharing			: Sharing platform</a:t>
            </a:r>
          </a:p>
          <a:p>
            <a:pPr lvl="1"/>
            <a:r>
              <a:rPr lang="en-GB" dirty="0" smtClean="0"/>
              <a:t>Photo Sharing</a:t>
            </a:r>
          </a:p>
          <a:p>
            <a:pPr lvl="1"/>
            <a:r>
              <a:rPr lang="en-GB" dirty="0" smtClean="0"/>
              <a:t>Video Sharing</a:t>
            </a:r>
          </a:p>
          <a:p>
            <a:r>
              <a:rPr lang="en-GB" dirty="0" smtClean="0"/>
              <a:t>Aggregations and Analytics		: </a:t>
            </a:r>
            <a:r>
              <a:rPr lang="en-US" dirty="0" smtClean="0"/>
              <a:t>Measure </a:t>
            </a:r>
            <a:r>
              <a:rPr lang="en-US" dirty="0"/>
              <a:t>social content from across the web</a:t>
            </a:r>
            <a:endParaRPr lang="en-GB" dirty="0" smtClean="0"/>
          </a:p>
          <a:p>
            <a:pPr lvl="1"/>
            <a:r>
              <a:rPr lang="en-GB" dirty="0" smtClean="0"/>
              <a:t>Social Media Aggregators</a:t>
            </a:r>
          </a:p>
          <a:p>
            <a:pPr lvl="1"/>
            <a:r>
              <a:rPr lang="en-GB" dirty="0" smtClean="0"/>
              <a:t>User Generated Content Aggregator</a:t>
            </a:r>
          </a:p>
          <a:p>
            <a:pPr lvl="1"/>
            <a:r>
              <a:rPr lang="en-GB" dirty="0" smtClean="0"/>
              <a:t>Social Media Measurement</a:t>
            </a:r>
          </a:p>
        </p:txBody>
      </p:sp>
    </p:spTree>
    <p:extLst>
      <p:ext uri="{BB962C8B-B14F-4D97-AF65-F5344CB8AC3E}">
        <p14:creationId xmlns:p14="http://schemas.microsoft.com/office/powerpoint/2010/main" val="153654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94294"/>
            <a:ext cx="9905999" cy="423557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Information</a:t>
            </a:r>
            <a:r>
              <a:rPr lang="en-GB" dirty="0"/>
              <a:t>			:  </a:t>
            </a:r>
            <a:r>
              <a:rPr lang="en-GB" dirty="0" smtClean="0"/>
              <a:t>Publishers</a:t>
            </a:r>
          </a:p>
          <a:p>
            <a:pPr lvl="1"/>
            <a:r>
              <a:rPr lang="en-GB" dirty="0" smtClean="0"/>
              <a:t>Blogs</a:t>
            </a:r>
          </a:p>
          <a:p>
            <a:pPr lvl="1"/>
            <a:r>
              <a:rPr lang="en-GB" dirty="0" smtClean="0"/>
              <a:t>News</a:t>
            </a:r>
          </a:p>
          <a:p>
            <a:pPr lvl="1"/>
            <a:r>
              <a:rPr lang="en-GB" dirty="0" smtClean="0"/>
              <a:t>Opinion Sites</a:t>
            </a:r>
          </a:p>
          <a:p>
            <a:r>
              <a:rPr lang="en-GB" dirty="0" smtClean="0"/>
              <a:t>Utilities and Tools		: “Back-Office” tools </a:t>
            </a:r>
          </a:p>
          <a:p>
            <a:pPr lvl="1"/>
            <a:r>
              <a:rPr lang="en-GB" dirty="0" smtClean="0"/>
              <a:t>Content/CMS Impressions</a:t>
            </a:r>
          </a:p>
          <a:p>
            <a:pPr lvl="1"/>
            <a:r>
              <a:rPr lang="en-GB" dirty="0" smtClean="0"/>
              <a:t>Documents</a:t>
            </a:r>
          </a:p>
          <a:p>
            <a:pPr lvl="1"/>
            <a:r>
              <a:rPr lang="en-GB" dirty="0" smtClean="0"/>
              <a:t>Foursquare</a:t>
            </a:r>
          </a:p>
          <a:p>
            <a:pPr lvl="1"/>
            <a:r>
              <a:rPr lang="en-GB" dirty="0" smtClean="0"/>
              <a:t>Conduit </a:t>
            </a:r>
          </a:p>
          <a:p>
            <a:pPr lvl="1"/>
            <a:r>
              <a:rPr lang="en-GB" dirty="0" err="1" smtClean="0"/>
              <a:t>Feedburner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13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We took data telling us how many ad views a user saw on a given day on a list of 81 websites over a 2 week period</a:t>
            </a:r>
          </a:p>
          <a:p>
            <a:r>
              <a:rPr lang="en-GB" dirty="0" smtClean="0"/>
              <a:t>We generated an additional 99 fields that we thought could be useful</a:t>
            </a:r>
          </a:p>
          <a:p>
            <a:r>
              <a:rPr lang="en-GB" dirty="0" smtClean="0"/>
              <a:t>Removed fields that would add noise, or do not show a relationship with click rate</a:t>
            </a:r>
          </a:p>
          <a:p>
            <a:r>
              <a:rPr lang="en-GB" dirty="0" smtClean="0"/>
              <a:t>Incorporated fields that accounted for fields with non-linear relationships</a:t>
            </a:r>
          </a:p>
          <a:p>
            <a:r>
              <a:rPr lang="en-GB" dirty="0" smtClean="0"/>
              <a:t>Removed fields too closely correlated, by taking combinations of fields most similar to each other, and removing the field with the weakest relationship to a click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712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94294"/>
            <a:ext cx="9905999" cy="4287329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Tried different models (logistic regression and Light GBM)</a:t>
            </a:r>
          </a:p>
          <a:p>
            <a:r>
              <a:rPr lang="en-GB" dirty="0" smtClean="0"/>
              <a:t>Fine tuned and optimised them in a variety of ways</a:t>
            </a:r>
          </a:p>
          <a:p>
            <a:r>
              <a:rPr lang="en-GB" dirty="0" smtClean="0"/>
              <a:t>Assessed the results with precision, recall, f1-score, MCC and profit/row</a:t>
            </a:r>
          </a:p>
          <a:p>
            <a:r>
              <a:rPr lang="en-GB" dirty="0" smtClean="0"/>
              <a:t>Assessed for over-fitting with nested cross-validation and by applying our model to the training set</a:t>
            </a:r>
          </a:p>
          <a:p>
            <a:r>
              <a:rPr lang="en-GB" dirty="0" smtClean="0"/>
              <a:t>Selected the top performing model, based on our metrics</a:t>
            </a:r>
          </a:p>
          <a:p>
            <a:pPr lvl="1"/>
            <a:r>
              <a:rPr lang="en-GB" dirty="0"/>
              <a:t>Emphasis on precision (focused strategy), f1-score (overall performance), and </a:t>
            </a:r>
            <a:r>
              <a:rPr lang="en-GB" dirty="0" smtClean="0"/>
              <a:t>profit/row</a:t>
            </a:r>
          </a:p>
          <a:p>
            <a:r>
              <a:rPr lang="en-GB" dirty="0" smtClean="0"/>
              <a:t>Threshold tuned for the probability threshold to register a click prediction</a:t>
            </a:r>
          </a:p>
          <a:p>
            <a:pPr lvl="1"/>
            <a:r>
              <a:rPr lang="en-GB" dirty="0"/>
              <a:t>Emphasis on precision (focused strategy), f1-score (overall performance), and </a:t>
            </a:r>
            <a:r>
              <a:rPr lang="en-GB" dirty="0" smtClean="0"/>
              <a:t>profit/row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72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Retrained the model on all data </a:t>
            </a:r>
          </a:p>
          <a:p>
            <a:pPr lvl="1"/>
            <a:r>
              <a:rPr lang="en-GB" dirty="0" smtClean="0"/>
              <a:t>(a hold out sample was used to assess the model during training)</a:t>
            </a:r>
          </a:p>
          <a:p>
            <a:r>
              <a:rPr lang="en-GB" dirty="0" smtClean="0"/>
              <a:t>Applied the model with the probability threshold </a:t>
            </a:r>
          </a:p>
          <a:p>
            <a:r>
              <a:rPr lang="en-GB" dirty="0" smtClean="0"/>
              <a:t>Made click predictions on the prediction dataset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234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88" y="97018"/>
            <a:ext cx="9905998" cy="1478570"/>
          </a:xfrm>
        </p:spPr>
        <p:txBody>
          <a:bodyPr/>
          <a:lstStyle/>
          <a:p>
            <a:r>
              <a:rPr lang="en-GB" dirty="0" smtClean="0"/>
              <a:t>Model selection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730" y="1414732"/>
            <a:ext cx="5897742" cy="2441276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Logistic Regression</a:t>
            </a:r>
          </a:p>
          <a:p>
            <a:pPr lvl="1"/>
            <a:r>
              <a:rPr lang="en-GB" dirty="0" smtClean="0"/>
              <a:t>Normalised values</a:t>
            </a:r>
          </a:p>
          <a:p>
            <a:pPr lvl="1"/>
            <a:r>
              <a:rPr lang="en-GB" dirty="0" smtClean="0"/>
              <a:t>Regularisation strength (C)	: 3.5</a:t>
            </a:r>
          </a:p>
          <a:p>
            <a:pPr lvl="1"/>
            <a:r>
              <a:rPr lang="en-GB" dirty="0" smtClean="0"/>
              <a:t>Penalty:                           	: L2</a:t>
            </a:r>
          </a:p>
          <a:p>
            <a:pPr lvl="1"/>
            <a:r>
              <a:rPr lang="en-GB" dirty="0" smtClean="0"/>
              <a:t>Class Weight                   	:  no weighting</a:t>
            </a:r>
          </a:p>
          <a:p>
            <a:pPr lvl="1"/>
            <a:r>
              <a:rPr lang="en-GB" dirty="0" smtClean="0"/>
              <a:t>Solver			: </a:t>
            </a:r>
            <a:r>
              <a:rPr lang="en-GB" dirty="0" err="1" smtClean="0"/>
              <a:t>Liblinear</a:t>
            </a:r>
            <a:endParaRPr lang="en-GB" dirty="0" smtClean="0"/>
          </a:p>
          <a:p>
            <a:pPr lvl="1"/>
            <a:r>
              <a:rPr lang="en-GB" dirty="0" smtClean="0"/>
              <a:t>Threshold Profit per user, per day	: 85.7p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928" y="3118668"/>
            <a:ext cx="4303420" cy="35533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472" y="97018"/>
            <a:ext cx="4536333" cy="2939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96" y="4040338"/>
            <a:ext cx="5281809" cy="23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5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104" y="336720"/>
            <a:ext cx="9905998" cy="1478570"/>
          </a:xfrm>
        </p:spPr>
        <p:txBody>
          <a:bodyPr/>
          <a:lstStyle/>
          <a:p>
            <a:r>
              <a:rPr lang="en-GB" dirty="0" smtClean="0"/>
              <a:t>Model selection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473" y="1717525"/>
            <a:ext cx="5897742" cy="3541714"/>
          </a:xfrm>
        </p:spPr>
        <p:txBody>
          <a:bodyPr>
            <a:normAutofit/>
          </a:bodyPr>
          <a:lstStyle/>
          <a:p>
            <a:r>
              <a:rPr lang="en-GB" dirty="0" smtClean="0"/>
              <a:t>Logistic regression beat Light GBM on precision and recall</a:t>
            </a:r>
          </a:p>
          <a:p>
            <a:pPr lvl="1"/>
            <a:r>
              <a:rPr lang="en-GB" dirty="0" smtClean="0"/>
              <a:t>Light GBM registers 70% more false positives</a:t>
            </a:r>
          </a:p>
          <a:p>
            <a:pPr lvl="1"/>
            <a:r>
              <a:rPr lang="en-GB" dirty="0"/>
              <a:t>Light GBM registers </a:t>
            </a:r>
            <a:r>
              <a:rPr lang="en-GB" dirty="0" smtClean="0"/>
              <a:t>47% </a:t>
            </a:r>
            <a:r>
              <a:rPr lang="en-GB" dirty="0"/>
              <a:t>more false </a:t>
            </a:r>
            <a:r>
              <a:rPr lang="en-GB" dirty="0" smtClean="0"/>
              <a:t>negatives</a:t>
            </a:r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42" y="3512672"/>
            <a:ext cx="4588991" cy="31273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635" y="910285"/>
            <a:ext cx="5701852" cy="40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7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 insights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1904430"/>
            <a:ext cx="9905999" cy="3541714"/>
          </a:xfrm>
        </p:spPr>
        <p:txBody>
          <a:bodyPr/>
          <a:lstStyle/>
          <a:p>
            <a:r>
              <a:rPr lang="en-GB" dirty="0" smtClean="0"/>
              <a:t>94 fields used</a:t>
            </a:r>
          </a:p>
          <a:p>
            <a:r>
              <a:rPr lang="en-GB" dirty="0" smtClean="0"/>
              <a:t>5 top features in the feature importance: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 smtClean="0"/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989" y="3051727"/>
            <a:ext cx="7106642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4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Heuristi</a:t>
            </a:r>
            <a:r>
              <a:rPr lang="en-GB" dirty="0" smtClean="0"/>
              <a:t>c investment strategy </a:t>
            </a:r>
            <a:r>
              <a:rPr lang="en-GB" dirty="0" smtClean="0"/>
              <a:t>inferred from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80558"/>
            <a:ext cx="9905999" cy="4140680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Took fields with a positive coefficient</a:t>
            </a:r>
          </a:p>
          <a:p>
            <a:r>
              <a:rPr lang="en-GB" dirty="0" smtClean="0"/>
              <a:t>Dropped fields that were not to do with total impressions on sites</a:t>
            </a:r>
          </a:p>
          <a:p>
            <a:r>
              <a:rPr lang="en-GB" dirty="0" smtClean="0"/>
              <a:t>Took the standardised coefficients of these fields</a:t>
            </a:r>
          </a:p>
          <a:p>
            <a:r>
              <a:rPr lang="en-GB" dirty="0" smtClean="0"/>
              <a:t>Computed the %age of each field’s standardised coefficient for the sum of all fields’ standardised coefficient</a:t>
            </a:r>
          </a:p>
          <a:p>
            <a:r>
              <a:rPr lang="en-GB" dirty="0" smtClean="0"/>
              <a:t>Summed the probability of every row with at least 1 impression for each of these fields to give total clicks across all rows</a:t>
            </a:r>
          </a:p>
          <a:p>
            <a:pPr marL="0" indent="0" algn="ctr">
              <a:buNone/>
            </a:pPr>
            <a:r>
              <a:rPr lang="en-GB" dirty="0" smtClean="0"/>
              <a:t>Revenue = Likely total clicks * 8.42</a:t>
            </a:r>
          </a:p>
          <a:p>
            <a:pPr marL="0" indent="0" algn="ctr">
              <a:buNone/>
            </a:pPr>
            <a:r>
              <a:rPr lang="en-GB" dirty="0" smtClean="0"/>
              <a:t>Cost = Total Impressions across all rows * (2.85/1000)</a:t>
            </a:r>
          </a:p>
          <a:p>
            <a:pPr marL="0" indent="0" algn="ctr">
              <a:buNone/>
            </a:pPr>
            <a:r>
              <a:rPr lang="en-GB" dirty="0" smtClean="0"/>
              <a:t>ROI = (Revenue – Cost)/Cost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Priority Score = Standardised Coefficient * ROI</a:t>
            </a:r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Budget % = </a:t>
            </a:r>
            <a:r>
              <a:rPr lang="en-GB" dirty="0"/>
              <a:t>Priority Score </a:t>
            </a:r>
            <a:r>
              <a:rPr lang="en-GB" dirty="0" smtClean="0"/>
              <a:t>/ Sum Priority </a:t>
            </a:r>
            <a:r>
              <a:rPr lang="en-GB" dirty="0"/>
              <a:t>Score </a:t>
            </a:r>
            <a:r>
              <a:rPr lang="en-GB" dirty="0" smtClean="0"/>
              <a:t>of all fields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1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775" y="167069"/>
            <a:ext cx="9905998" cy="1478570"/>
          </a:xfrm>
        </p:spPr>
        <p:txBody>
          <a:bodyPr/>
          <a:lstStyle/>
          <a:p>
            <a:r>
              <a:rPr lang="en-GB" dirty="0"/>
              <a:t>Heuristic investment strategy inferred from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552" y="2068332"/>
            <a:ext cx="5009222" cy="3541714"/>
          </a:xfrm>
        </p:spPr>
        <p:txBody>
          <a:bodyPr>
            <a:normAutofit/>
          </a:bodyPr>
          <a:lstStyle/>
          <a:p>
            <a:r>
              <a:rPr lang="en-GB" dirty="0" smtClean="0"/>
              <a:t>You will notice overlap between these sites</a:t>
            </a:r>
          </a:p>
          <a:p>
            <a:pPr lvl="1"/>
            <a:r>
              <a:rPr lang="en-GB" dirty="0" err="1" smtClean="0"/>
              <a:t>Wordpress</a:t>
            </a:r>
            <a:r>
              <a:rPr lang="en-GB" dirty="0" smtClean="0"/>
              <a:t> falls under “Information”</a:t>
            </a:r>
          </a:p>
          <a:p>
            <a:pPr lvl="1"/>
            <a:r>
              <a:rPr lang="en-GB" dirty="0" smtClean="0"/>
              <a:t>If a site falls under a group or category, we may expend part of the budget for the group or category on that site, on top of the designated budget for that site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382" y="2319863"/>
            <a:ext cx="5852826" cy="26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4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775" y="167069"/>
            <a:ext cx="9905998" cy="1478570"/>
          </a:xfrm>
        </p:spPr>
        <p:txBody>
          <a:bodyPr/>
          <a:lstStyle/>
          <a:p>
            <a:r>
              <a:rPr lang="en-GB" dirty="0"/>
              <a:t>Heuristic investment strategy inferred from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51" y="1742536"/>
            <a:ext cx="5249023" cy="4244196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Spend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7.2% of budget on Opinion Sites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6.3% on Blogs, News and again on Opinion Sites again (should you choose)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5.9% on just </a:t>
            </a:r>
            <a:r>
              <a:rPr lang="en-GB" dirty="0" err="1" smtClean="0"/>
              <a:t>Mybloglog</a:t>
            </a:r>
            <a:r>
              <a:rPr lang="en-GB" dirty="0" smtClean="0"/>
              <a:t>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5.3% on </a:t>
            </a:r>
            <a:r>
              <a:rPr lang="en-GB" dirty="0" err="1" smtClean="0"/>
              <a:t>Thisnext</a:t>
            </a:r>
            <a:r>
              <a:rPr lang="en-GB" dirty="0" smtClean="0"/>
              <a:t> (Opinion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4.6% on </a:t>
            </a:r>
            <a:r>
              <a:rPr lang="en-GB" dirty="0" err="1" smtClean="0"/>
              <a:t>Typepad</a:t>
            </a:r>
            <a:r>
              <a:rPr lang="en-GB" dirty="0" smtClean="0"/>
              <a:t>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4.1% on </a:t>
            </a:r>
            <a:r>
              <a:rPr lang="en-GB" dirty="0" err="1" smtClean="0"/>
              <a:t>Livejournal</a:t>
            </a:r>
            <a:r>
              <a:rPr lang="en-GB" dirty="0" smtClean="0"/>
              <a:t>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4.1% on </a:t>
            </a:r>
            <a:r>
              <a:rPr lang="en-GB" dirty="0" err="1" smtClean="0"/>
              <a:t>Blogcatalog</a:t>
            </a:r>
            <a:r>
              <a:rPr lang="en-GB" dirty="0" smtClean="0"/>
              <a:t>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3.9% on Kaboodle (Opinion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3.7% on </a:t>
            </a:r>
            <a:r>
              <a:rPr lang="en-GB" dirty="0" err="1" smtClean="0"/>
              <a:t>Wordpress</a:t>
            </a:r>
            <a:r>
              <a:rPr lang="en-GB" dirty="0" smtClean="0"/>
              <a:t>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3.1% on Mashable (Blog site)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Etc..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 smtClean="0"/>
          </a:p>
          <a:p>
            <a:pPr marL="457200" indent="-457200">
              <a:buFont typeface="+mj-lt"/>
              <a:buAutoNum type="arabicPeriod"/>
            </a:pPr>
            <a:endParaRPr lang="en-GB" dirty="0" smtClean="0"/>
          </a:p>
          <a:p>
            <a:pPr marL="457200" indent="-457200">
              <a:buFont typeface="+mj-lt"/>
              <a:buAutoNum type="arabicPeriod"/>
            </a:pPr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382" y="2319863"/>
            <a:ext cx="5852826" cy="260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2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775" y="167069"/>
            <a:ext cx="9905998" cy="1478570"/>
          </a:xfrm>
        </p:spPr>
        <p:txBody>
          <a:bodyPr/>
          <a:lstStyle/>
          <a:p>
            <a:r>
              <a:rPr lang="en-GB" dirty="0"/>
              <a:t>Heuristic investment strategy inferred from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52" y="1742536"/>
            <a:ext cx="4572804" cy="4244196"/>
          </a:xfrm>
        </p:spPr>
        <p:txBody>
          <a:bodyPr>
            <a:normAutofit/>
          </a:bodyPr>
          <a:lstStyle/>
          <a:p>
            <a:r>
              <a:rPr lang="en-GB" dirty="0" smtClean="0"/>
              <a:t>The top 30 Budget allocates make up 83% of the budget</a:t>
            </a:r>
          </a:p>
          <a:p>
            <a:r>
              <a:rPr lang="en-GB" dirty="0" smtClean="0"/>
              <a:t>Dominated by Blogs and Opinion sites (14 out of 30)</a:t>
            </a:r>
          </a:p>
          <a:p>
            <a:r>
              <a:rPr lang="en-GB" dirty="0" smtClean="0"/>
              <a:t>Information (publishers) group should be the focus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555" y="1811696"/>
            <a:ext cx="6496957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6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775" y="167069"/>
            <a:ext cx="9905998" cy="1478570"/>
          </a:xfrm>
        </p:spPr>
        <p:txBody>
          <a:bodyPr/>
          <a:lstStyle/>
          <a:p>
            <a:r>
              <a:rPr lang="en-GB" dirty="0"/>
              <a:t>Heuristic investment strategy inferred from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51" y="1742536"/>
            <a:ext cx="9911751" cy="4244196"/>
          </a:xfrm>
        </p:spPr>
        <p:txBody>
          <a:bodyPr>
            <a:normAutofit/>
          </a:bodyPr>
          <a:lstStyle/>
          <a:p>
            <a:r>
              <a:rPr lang="en-GB" dirty="0" smtClean="0"/>
              <a:t>Avoid in the way they have been used in the 2 week experiment:</a:t>
            </a:r>
          </a:p>
          <a:p>
            <a:pPr lvl="1"/>
            <a:r>
              <a:rPr lang="en-GB" dirty="0" smtClean="0"/>
              <a:t>Facebook</a:t>
            </a:r>
          </a:p>
          <a:p>
            <a:pPr lvl="1"/>
            <a:r>
              <a:rPr lang="en-GB" dirty="0" smtClean="0"/>
              <a:t>Utilities and tools</a:t>
            </a:r>
          </a:p>
          <a:p>
            <a:pPr lvl="1"/>
            <a:r>
              <a:rPr lang="en-GB" dirty="0" err="1" smtClean="0"/>
              <a:t>Stumbleupon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Full list of budget allocation with 71 budget </a:t>
            </a:r>
            <a:r>
              <a:rPr lang="en-GB" dirty="0" err="1" smtClean="0"/>
              <a:t>allocants</a:t>
            </a:r>
            <a:r>
              <a:rPr lang="en-GB" dirty="0" smtClean="0"/>
              <a:t> available in the code </a:t>
            </a:r>
          </a:p>
        </p:txBody>
      </p:sp>
    </p:spTree>
    <p:extLst>
      <p:ext uri="{BB962C8B-B14F-4D97-AF65-F5344CB8AC3E}">
        <p14:creationId xmlns:p14="http://schemas.microsoft.com/office/powerpoint/2010/main" val="250931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02921"/>
            <a:ext cx="9905999" cy="4321834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Revenue per click (£8.42) is constant and uniform</a:t>
            </a:r>
          </a:p>
          <a:p>
            <a:r>
              <a:rPr lang="en-GB" dirty="0" smtClean="0"/>
              <a:t>Cost of Media is constant and uniform (£2.85 per 1000 impressions)</a:t>
            </a:r>
          </a:p>
          <a:p>
            <a:r>
              <a:rPr lang="en-GB" dirty="0" smtClean="0"/>
              <a:t>Static user behaviour</a:t>
            </a:r>
          </a:p>
          <a:p>
            <a:pPr lvl="1"/>
            <a:r>
              <a:rPr lang="en-GB" dirty="0" smtClean="0"/>
              <a:t>Experiment was carried over a 2 week period – not accounting for seasonality</a:t>
            </a:r>
          </a:p>
          <a:p>
            <a:r>
              <a:rPr lang="en-GB" dirty="0" smtClean="0"/>
              <a:t>All sites recommended have the capacity for additional impressions</a:t>
            </a:r>
          </a:p>
          <a:p>
            <a:pPr lvl="1"/>
            <a:r>
              <a:rPr lang="en-GB" dirty="0" smtClean="0"/>
              <a:t>No supply cap</a:t>
            </a:r>
          </a:p>
          <a:p>
            <a:r>
              <a:rPr lang="en-GB" dirty="0" smtClean="0"/>
              <a:t>Independent site effect</a:t>
            </a:r>
          </a:p>
          <a:p>
            <a:pPr lvl="1"/>
            <a:r>
              <a:rPr lang="en-GB" dirty="0" smtClean="0"/>
              <a:t>Recommendations focuses especially on certain types of sites – </a:t>
            </a:r>
            <a:r>
              <a:rPr lang="en-GB" smtClean="0"/>
              <a:t>no cannibalisation</a:t>
            </a:r>
            <a:endParaRPr lang="en-GB" dirty="0" smtClean="0"/>
          </a:p>
          <a:p>
            <a:r>
              <a:rPr lang="en-GB" dirty="0" smtClean="0"/>
              <a:t>Temporal independent predictions</a:t>
            </a:r>
          </a:p>
          <a:p>
            <a:pPr lvl="1"/>
            <a:r>
              <a:rPr lang="en-GB" dirty="0" smtClean="0"/>
              <a:t>No data on when the impressions were seen (day of week, time, </a:t>
            </a:r>
            <a:r>
              <a:rPr lang="en-GB" dirty="0" err="1" smtClean="0"/>
              <a:t>etc</a:t>
            </a:r>
            <a:r>
              <a:rPr lang="en-GB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37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688858"/>
            <a:ext cx="9905998" cy="1478570"/>
          </a:xfrm>
        </p:spPr>
        <p:txBody>
          <a:bodyPr/>
          <a:lstStyle/>
          <a:p>
            <a:pPr algn="ctr"/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819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2240</TotalTime>
  <Words>866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Tw Cen MT</vt:lpstr>
      <vt:lpstr>Circuit</vt:lpstr>
      <vt:lpstr>Advertisement Click propensity model &amp; heuristic investment strategy case study</vt:lpstr>
      <vt:lpstr>objectives</vt:lpstr>
      <vt:lpstr>methodology</vt:lpstr>
      <vt:lpstr>methodology</vt:lpstr>
      <vt:lpstr>methodology</vt:lpstr>
      <vt:lpstr>methodology</vt:lpstr>
      <vt:lpstr>model</vt:lpstr>
      <vt:lpstr>model</vt:lpstr>
      <vt:lpstr>model</vt:lpstr>
      <vt:lpstr>Model selection</vt:lpstr>
      <vt:lpstr>Model selection</vt:lpstr>
      <vt:lpstr>Model insights</vt:lpstr>
      <vt:lpstr>Heuristic investment strategy inferred from model</vt:lpstr>
      <vt:lpstr>Heuristic investment strategy inferred from model</vt:lpstr>
      <vt:lpstr>Heuristic investment strategy inferred from model</vt:lpstr>
      <vt:lpstr>Heuristic investment strategy inferred from model</vt:lpstr>
      <vt:lpstr>Heuristic investment strategy inferred from model</vt:lpstr>
      <vt:lpstr>Assumption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 investment strategy case study</dc:title>
  <dc:creator>Farshad Rastgouy</dc:creator>
  <cp:lastModifiedBy>Farshad Rastgouy</cp:lastModifiedBy>
  <cp:revision>34</cp:revision>
  <dcterms:created xsi:type="dcterms:W3CDTF">2025-06-22T23:03:00Z</dcterms:created>
  <dcterms:modified xsi:type="dcterms:W3CDTF">2026-01-29T16:42:19Z</dcterms:modified>
</cp:coreProperties>
</file>