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0" r:id="rId4"/>
    <p:sldId id="262" r:id="rId5"/>
    <p:sldId id="258" r:id="rId6"/>
    <p:sldId id="261" r:id="rId7"/>
    <p:sldId id="263" r:id="rId8"/>
    <p:sldId id="270" r:id="rId9"/>
    <p:sldId id="269" r:id="rId10"/>
    <p:sldId id="268" r:id="rId11"/>
    <p:sldId id="264" r:id="rId12"/>
    <p:sldId id="266" r:id="rId13"/>
    <p:sldId id="267" r:id="rId14"/>
    <p:sldId id="271" r:id="rId15"/>
    <p:sldId id="272" r:id="rId16"/>
    <p:sldId id="273" r:id="rId17"/>
    <p:sldId id="275" r:id="rId18"/>
    <p:sldId id="274" r:id="rId19"/>
    <p:sldId id="276" r:id="rId20"/>
    <p:sldId id="277" r:id="rId21"/>
    <p:sldId id="279" r:id="rId22"/>
    <p:sldId id="280" r:id="rId23"/>
    <p:sldId id="281" r:id="rId24"/>
    <p:sldId id="283" r:id="rId25"/>
    <p:sldId id="282" r:id="rId26"/>
    <p:sldId id="284" r:id="rId27"/>
    <p:sldId id="287" r:id="rId28"/>
    <p:sldId id="288" r:id="rId29"/>
    <p:sldId id="286" r:id="rId30"/>
    <p:sldId id="290" r:id="rId31"/>
    <p:sldId id="289" r:id="rId32"/>
    <p:sldId id="291"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83" autoAdjust="0"/>
    <p:restoredTop sz="94660"/>
  </p:normalViewPr>
  <p:slideViewPr>
    <p:cSldViewPr snapToGrid="0">
      <p:cViewPr varScale="1">
        <p:scale>
          <a:sx n="114" d="100"/>
          <a:sy n="114" d="100"/>
        </p:scale>
        <p:origin x="42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smtClean="0"/>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5/5/2026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smtClean="0"/>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5/5/2026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5/5/2026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1104302"/>
            <a:ext cx="8637073" cy="2541431"/>
          </a:xfrm>
        </p:spPr>
        <p:txBody>
          <a:bodyPr>
            <a:normAutofit fontScale="90000"/>
          </a:bodyPr>
          <a:lstStyle/>
          <a:p>
            <a:r>
              <a:rPr lang="en-GB" sz="5400" dirty="0" smtClean="0"/>
              <a:t>Assessing the effectiveness of </a:t>
            </a:r>
            <a:r>
              <a:rPr lang="en-GB" sz="5400" dirty="0" smtClean="0"/>
              <a:t>a food delivery company’s Referral </a:t>
            </a:r>
            <a:r>
              <a:rPr lang="en-GB" sz="5400" dirty="0" smtClean="0"/>
              <a:t>scheme</a:t>
            </a:r>
            <a:endParaRPr lang="en-GB" sz="5400" dirty="0"/>
          </a:p>
        </p:txBody>
      </p:sp>
      <p:sp>
        <p:nvSpPr>
          <p:cNvPr id="3" name="Subtitle 2"/>
          <p:cNvSpPr>
            <a:spLocks noGrp="1"/>
          </p:cNvSpPr>
          <p:nvPr>
            <p:ph type="subTitle" idx="1"/>
          </p:nvPr>
        </p:nvSpPr>
        <p:spPr>
          <a:xfrm>
            <a:off x="2417779" y="4319769"/>
            <a:ext cx="8637072" cy="977621"/>
          </a:xfrm>
        </p:spPr>
        <p:txBody>
          <a:bodyPr/>
          <a:lstStyle/>
          <a:p>
            <a:r>
              <a:rPr lang="en-GB" dirty="0" smtClean="0"/>
              <a:t>By Farshad </a:t>
            </a:r>
            <a:r>
              <a:rPr lang="en-GB" dirty="0" err="1" smtClean="0"/>
              <a:t>rastgouy</a:t>
            </a:r>
            <a:endParaRPr lang="en-GB" dirty="0"/>
          </a:p>
        </p:txBody>
      </p:sp>
    </p:spTree>
    <p:extLst>
      <p:ext uri="{BB962C8B-B14F-4D97-AF65-F5344CB8AC3E}">
        <p14:creationId xmlns:p14="http://schemas.microsoft.com/office/powerpoint/2010/main" val="4159997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Context &amp; Objectives</a:t>
            </a:r>
            <a:endParaRPr lang="en-GB" dirty="0"/>
          </a:p>
        </p:txBody>
      </p:sp>
      <p:sp>
        <p:nvSpPr>
          <p:cNvPr id="3" name="Content Placeholder 2"/>
          <p:cNvSpPr>
            <a:spLocks noGrp="1"/>
          </p:cNvSpPr>
          <p:nvPr>
            <p:ph idx="1"/>
          </p:nvPr>
        </p:nvSpPr>
        <p:spPr/>
        <p:txBody>
          <a:bodyPr/>
          <a:lstStyle/>
          <a:p>
            <a:r>
              <a:rPr lang="en-US" dirty="0" smtClean="0"/>
              <a:t>We are given data </a:t>
            </a:r>
            <a:r>
              <a:rPr lang="en-US" dirty="0"/>
              <a:t>on </a:t>
            </a:r>
            <a:r>
              <a:rPr lang="en-US" dirty="0" smtClean="0"/>
              <a:t>the </a:t>
            </a:r>
            <a:r>
              <a:rPr lang="en-US" dirty="0"/>
              <a:t>referral </a:t>
            </a:r>
            <a:r>
              <a:rPr lang="en-US" dirty="0" smtClean="0"/>
              <a:t>scheme for </a:t>
            </a:r>
            <a:r>
              <a:rPr lang="en-US" dirty="0" smtClean="0"/>
              <a:t>riders of a food delivery company</a:t>
            </a:r>
          </a:p>
          <a:p>
            <a:r>
              <a:rPr lang="en-US" dirty="0" smtClean="0"/>
              <a:t>We want to understand:</a:t>
            </a:r>
            <a:endParaRPr lang="en-US" dirty="0" smtClean="0"/>
          </a:p>
          <a:p>
            <a:pPr lvl="1"/>
            <a:r>
              <a:rPr lang="en-US" dirty="0" smtClean="0"/>
              <a:t>How </a:t>
            </a:r>
            <a:r>
              <a:rPr lang="en-US" dirty="0" smtClean="0"/>
              <a:t>has </a:t>
            </a:r>
            <a:r>
              <a:rPr lang="en-US" dirty="0" smtClean="0"/>
              <a:t>the referral scheme </a:t>
            </a:r>
            <a:r>
              <a:rPr lang="en-US" dirty="0" smtClean="0"/>
              <a:t>performed, especially against other channels?</a:t>
            </a:r>
          </a:p>
          <a:p>
            <a:pPr lvl="1"/>
            <a:r>
              <a:rPr lang="en-GB" dirty="0" smtClean="0"/>
              <a:t>Has </a:t>
            </a:r>
            <a:r>
              <a:rPr lang="en-US" dirty="0"/>
              <a:t>the referral scheme</a:t>
            </a:r>
            <a:r>
              <a:rPr lang="en-GB" dirty="0" smtClean="0"/>
              <a:t> </a:t>
            </a:r>
            <a:r>
              <a:rPr lang="en-GB" dirty="0" smtClean="0"/>
              <a:t>been successful?</a:t>
            </a:r>
          </a:p>
          <a:p>
            <a:pPr lvl="1"/>
            <a:r>
              <a:rPr lang="en-GB" dirty="0" smtClean="0"/>
              <a:t>Are there any i</a:t>
            </a:r>
            <a:r>
              <a:rPr lang="en-GB" dirty="0" smtClean="0"/>
              <a:t>mportant </a:t>
            </a:r>
            <a:r>
              <a:rPr lang="en-GB" dirty="0" smtClean="0"/>
              <a:t>factors to consider for changes to the </a:t>
            </a:r>
            <a:r>
              <a:rPr lang="en-GB" dirty="0" smtClean="0"/>
              <a:t>scheme?</a:t>
            </a:r>
            <a:endParaRPr lang="en-GB" dirty="0" smtClean="0"/>
          </a:p>
          <a:p>
            <a:endParaRPr lang="en-GB" dirty="0" smtClean="0"/>
          </a:p>
          <a:p>
            <a:endParaRPr lang="en-GB" dirty="0"/>
          </a:p>
        </p:txBody>
      </p:sp>
    </p:spTree>
    <p:extLst>
      <p:ext uri="{BB962C8B-B14F-4D97-AF65-F5344CB8AC3E}">
        <p14:creationId xmlns:p14="http://schemas.microsoft.com/office/powerpoint/2010/main" val="2517888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How can we define success for </a:t>
            </a:r>
            <a:r>
              <a:rPr lang="en-US" dirty="0"/>
              <a:t>the referral scheme</a:t>
            </a:r>
            <a:r>
              <a:rPr lang="en-GB" dirty="0" smtClean="0"/>
              <a:t>?</a:t>
            </a:r>
            <a:endParaRPr lang="en-GB" dirty="0"/>
          </a:p>
        </p:txBody>
      </p:sp>
      <p:sp>
        <p:nvSpPr>
          <p:cNvPr id="3" name="Content Placeholder 2"/>
          <p:cNvSpPr>
            <a:spLocks noGrp="1"/>
          </p:cNvSpPr>
          <p:nvPr>
            <p:ph idx="1"/>
          </p:nvPr>
        </p:nvSpPr>
        <p:spPr>
          <a:xfrm>
            <a:off x="1451580" y="2015732"/>
            <a:ext cx="3646632" cy="3450613"/>
          </a:xfrm>
        </p:spPr>
        <p:txBody>
          <a:bodyPr>
            <a:normAutofit/>
          </a:bodyPr>
          <a:lstStyle/>
          <a:p>
            <a:r>
              <a:rPr lang="en-GB" dirty="0" smtClean="0"/>
              <a:t>Acquisition volume</a:t>
            </a:r>
          </a:p>
          <a:p>
            <a:r>
              <a:rPr lang="en-GB" dirty="0" smtClean="0"/>
              <a:t>Availability of riders</a:t>
            </a:r>
          </a:p>
          <a:p>
            <a:r>
              <a:rPr lang="en-GB" dirty="0" smtClean="0"/>
              <a:t>Retention rate of riders</a:t>
            </a:r>
          </a:p>
          <a:p>
            <a:r>
              <a:rPr lang="en-GB" dirty="0" smtClean="0"/>
              <a:t>Secondary referrals from riders</a:t>
            </a:r>
          </a:p>
          <a:p>
            <a:r>
              <a:rPr lang="en-GB" dirty="0" smtClean="0"/>
              <a:t>Demand met by riders</a:t>
            </a:r>
          </a:p>
          <a:p>
            <a:endParaRPr lang="en-GB" dirty="0"/>
          </a:p>
        </p:txBody>
      </p:sp>
      <p:sp>
        <p:nvSpPr>
          <p:cNvPr id="6" name="Content Placeholder 2"/>
          <p:cNvSpPr txBox="1">
            <a:spLocks/>
          </p:cNvSpPr>
          <p:nvPr/>
        </p:nvSpPr>
        <p:spPr>
          <a:xfrm>
            <a:off x="7271535" y="2015732"/>
            <a:ext cx="3646632" cy="3450613"/>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GB" dirty="0" smtClean="0"/>
              <a:t>Efficiency of demand met from riders</a:t>
            </a:r>
          </a:p>
          <a:p>
            <a:r>
              <a:rPr lang="en-GB" dirty="0" smtClean="0"/>
              <a:t>Uptake rate of riders</a:t>
            </a:r>
          </a:p>
          <a:p>
            <a:r>
              <a:rPr lang="en-GB" dirty="0" smtClean="0"/>
              <a:t>Quality of riders</a:t>
            </a:r>
          </a:p>
          <a:p>
            <a:r>
              <a:rPr lang="en-GB" dirty="0" smtClean="0"/>
              <a:t>ROI on riders</a:t>
            </a:r>
          </a:p>
          <a:p>
            <a:r>
              <a:rPr lang="en-GB" dirty="0" smtClean="0"/>
              <a:t>Supply gap plugging of riders</a:t>
            </a:r>
          </a:p>
          <a:p>
            <a:endParaRPr lang="en-GB" dirty="0"/>
          </a:p>
        </p:txBody>
      </p:sp>
    </p:spTree>
    <p:extLst>
      <p:ext uri="{BB962C8B-B14F-4D97-AF65-F5344CB8AC3E}">
        <p14:creationId xmlns:p14="http://schemas.microsoft.com/office/powerpoint/2010/main" val="2880805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Data fields available</a:t>
            </a:r>
            <a:endParaRPr lang="en-GB" dirty="0"/>
          </a:p>
        </p:txBody>
      </p:sp>
      <p:sp>
        <p:nvSpPr>
          <p:cNvPr id="3" name="Content Placeholder 2"/>
          <p:cNvSpPr>
            <a:spLocks noGrp="1"/>
          </p:cNvSpPr>
          <p:nvPr>
            <p:ph idx="1"/>
          </p:nvPr>
        </p:nvSpPr>
        <p:spPr>
          <a:xfrm>
            <a:off x="1451580" y="2015732"/>
            <a:ext cx="3974436" cy="3450613"/>
          </a:xfrm>
        </p:spPr>
        <p:txBody>
          <a:bodyPr>
            <a:normAutofit/>
          </a:bodyPr>
          <a:lstStyle/>
          <a:p>
            <a:r>
              <a:rPr lang="en-GB" dirty="0" smtClean="0"/>
              <a:t>Categorical data:</a:t>
            </a:r>
          </a:p>
          <a:p>
            <a:pPr lvl="1"/>
            <a:r>
              <a:rPr lang="en-GB" dirty="0" smtClean="0"/>
              <a:t>City of Riders</a:t>
            </a:r>
          </a:p>
          <a:p>
            <a:pPr lvl="1"/>
            <a:r>
              <a:rPr lang="en-GB" dirty="0" smtClean="0"/>
              <a:t>Vehicle Used</a:t>
            </a:r>
          </a:p>
          <a:p>
            <a:pPr lvl="1"/>
            <a:r>
              <a:rPr lang="en-GB" dirty="0" smtClean="0"/>
              <a:t>Days since Acquisition</a:t>
            </a:r>
          </a:p>
          <a:p>
            <a:pPr lvl="1"/>
            <a:r>
              <a:rPr lang="en-GB" dirty="0" smtClean="0"/>
              <a:t>When the riders:</a:t>
            </a:r>
          </a:p>
          <a:p>
            <a:pPr lvl="2"/>
            <a:r>
              <a:rPr lang="en-GB" dirty="0" smtClean="0"/>
              <a:t>Applied</a:t>
            </a:r>
          </a:p>
          <a:p>
            <a:pPr lvl="2"/>
            <a:r>
              <a:rPr lang="en-GB" dirty="0"/>
              <a:t>W</a:t>
            </a:r>
            <a:r>
              <a:rPr lang="en-GB" dirty="0" smtClean="0"/>
              <a:t>ere approved</a:t>
            </a:r>
          </a:p>
          <a:p>
            <a:pPr lvl="2"/>
            <a:r>
              <a:rPr lang="en-GB" dirty="0"/>
              <a:t>S</a:t>
            </a:r>
            <a:r>
              <a:rPr lang="en-GB" dirty="0" smtClean="0"/>
              <a:t>tarted working</a:t>
            </a:r>
          </a:p>
        </p:txBody>
      </p:sp>
      <p:sp>
        <p:nvSpPr>
          <p:cNvPr id="4" name="Content Placeholder 2"/>
          <p:cNvSpPr txBox="1">
            <a:spLocks/>
          </p:cNvSpPr>
          <p:nvPr/>
        </p:nvSpPr>
        <p:spPr>
          <a:xfrm>
            <a:off x="6495157" y="2015732"/>
            <a:ext cx="3974436" cy="3450613"/>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GB" dirty="0" smtClean="0"/>
              <a:t>Metrics to work with:</a:t>
            </a:r>
          </a:p>
          <a:p>
            <a:pPr lvl="1"/>
            <a:r>
              <a:rPr lang="en-GB" dirty="0" smtClean="0"/>
              <a:t>Hours worked</a:t>
            </a:r>
          </a:p>
          <a:p>
            <a:pPr lvl="1"/>
            <a:r>
              <a:rPr lang="en-GB" dirty="0" smtClean="0"/>
              <a:t>Orders delivered</a:t>
            </a:r>
          </a:p>
          <a:p>
            <a:pPr lvl="1"/>
            <a:r>
              <a:rPr lang="en-GB" dirty="0" smtClean="0"/>
              <a:t>Throughput</a:t>
            </a:r>
          </a:p>
          <a:p>
            <a:pPr lvl="1"/>
            <a:r>
              <a:rPr lang="en-GB" dirty="0" smtClean="0"/>
              <a:t>Referral Count</a:t>
            </a:r>
          </a:p>
          <a:p>
            <a:pPr lvl="1"/>
            <a:r>
              <a:rPr lang="en-GB" dirty="0" smtClean="0"/>
              <a:t>Successful Referral Count</a:t>
            </a:r>
          </a:p>
          <a:p>
            <a:pPr lvl="1"/>
            <a:r>
              <a:rPr lang="en-GB" dirty="0" smtClean="0"/>
              <a:t>Count of riders</a:t>
            </a:r>
            <a:endParaRPr lang="en-GB" dirty="0"/>
          </a:p>
        </p:txBody>
      </p:sp>
    </p:spTree>
    <p:extLst>
      <p:ext uri="{BB962C8B-B14F-4D97-AF65-F5344CB8AC3E}">
        <p14:creationId xmlns:p14="http://schemas.microsoft.com/office/powerpoint/2010/main" val="981239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How can we define success for </a:t>
            </a:r>
            <a:r>
              <a:rPr lang="en-US" dirty="0"/>
              <a:t>the referral scheme</a:t>
            </a:r>
            <a:r>
              <a:rPr lang="en-GB" dirty="0" smtClean="0"/>
              <a:t> </a:t>
            </a:r>
            <a:r>
              <a:rPr lang="en-GB" dirty="0" smtClean="0"/>
              <a:t>with the data available?</a:t>
            </a:r>
            <a:endParaRPr lang="en-GB" dirty="0"/>
          </a:p>
        </p:txBody>
      </p:sp>
      <p:sp>
        <p:nvSpPr>
          <p:cNvPr id="3" name="Content Placeholder 2"/>
          <p:cNvSpPr>
            <a:spLocks noGrp="1"/>
          </p:cNvSpPr>
          <p:nvPr>
            <p:ph idx="1"/>
          </p:nvPr>
        </p:nvSpPr>
        <p:spPr>
          <a:xfrm>
            <a:off x="1003005" y="2015732"/>
            <a:ext cx="4397131" cy="4255672"/>
          </a:xfrm>
        </p:spPr>
        <p:txBody>
          <a:bodyPr>
            <a:normAutofit/>
          </a:bodyPr>
          <a:lstStyle/>
          <a:p>
            <a:r>
              <a:rPr lang="en-GB" dirty="0" smtClean="0"/>
              <a:t>Acquisition volume</a:t>
            </a:r>
          </a:p>
          <a:p>
            <a:pPr lvl="1"/>
            <a:r>
              <a:rPr lang="en-GB" dirty="0" smtClean="0"/>
              <a:t>Count of riders</a:t>
            </a:r>
          </a:p>
          <a:p>
            <a:r>
              <a:rPr lang="en-GB" dirty="0" smtClean="0"/>
              <a:t>Availability of riders</a:t>
            </a:r>
          </a:p>
          <a:p>
            <a:pPr lvl="1"/>
            <a:r>
              <a:rPr lang="en-GB" dirty="0" smtClean="0"/>
              <a:t>Hours worked by riders</a:t>
            </a:r>
          </a:p>
          <a:p>
            <a:r>
              <a:rPr lang="en-GB" dirty="0" smtClean="0"/>
              <a:t>Retention rate of riders</a:t>
            </a:r>
          </a:p>
          <a:p>
            <a:pPr lvl="1"/>
            <a:r>
              <a:rPr lang="en-GB" dirty="0" smtClean="0"/>
              <a:t>Inactivity rate of riders</a:t>
            </a:r>
          </a:p>
        </p:txBody>
      </p:sp>
      <p:sp>
        <p:nvSpPr>
          <p:cNvPr id="9" name="Content Placeholder 2"/>
          <p:cNvSpPr txBox="1">
            <a:spLocks/>
          </p:cNvSpPr>
          <p:nvPr/>
        </p:nvSpPr>
        <p:spPr>
          <a:xfrm>
            <a:off x="7124886" y="2015732"/>
            <a:ext cx="4397131" cy="4255672"/>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285750" indent="-285750"/>
            <a:r>
              <a:rPr lang="en-GB" dirty="0"/>
              <a:t>Successful referrals from riders</a:t>
            </a:r>
          </a:p>
          <a:p>
            <a:pPr marL="742950" lvl="1" indent="-285750"/>
            <a:r>
              <a:rPr lang="en-GB" dirty="0"/>
              <a:t>Counts of successful riders</a:t>
            </a:r>
          </a:p>
          <a:p>
            <a:pPr marL="285750" indent="-285750"/>
            <a:r>
              <a:rPr lang="en-GB" dirty="0"/>
              <a:t>Demand met by riders</a:t>
            </a:r>
          </a:p>
          <a:p>
            <a:pPr marL="742950" lvl="1" indent="-285750"/>
            <a:r>
              <a:rPr lang="en-GB" dirty="0"/>
              <a:t>Orders delivered by </a:t>
            </a:r>
            <a:r>
              <a:rPr lang="en-GB" dirty="0" smtClean="0"/>
              <a:t>riders</a:t>
            </a:r>
          </a:p>
          <a:p>
            <a:r>
              <a:rPr lang="en-GB" dirty="0"/>
              <a:t>Efficiency of demand met from riders</a:t>
            </a:r>
          </a:p>
          <a:p>
            <a:pPr lvl="1"/>
            <a:r>
              <a:rPr lang="en-GB" dirty="0"/>
              <a:t>Throughput</a:t>
            </a:r>
          </a:p>
          <a:p>
            <a:pPr marL="285750" indent="-285750"/>
            <a:endParaRPr lang="en-GB" dirty="0"/>
          </a:p>
        </p:txBody>
      </p:sp>
    </p:spTree>
    <p:extLst>
      <p:ext uri="{BB962C8B-B14F-4D97-AF65-F5344CB8AC3E}">
        <p14:creationId xmlns:p14="http://schemas.microsoft.com/office/powerpoint/2010/main" val="3915940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How can we define success for </a:t>
            </a:r>
            <a:r>
              <a:rPr lang="en-US" dirty="0"/>
              <a:t>the referral scheme</a:t>
            </a:r>
            <a:r>
              <a:rPr lang="en-GB" dirty="0" smtClean="0"/>
              <a:t> </a:t>
            </a:r>
            <a:r>
              <a:rPr lang="en-GB" dirty="0" smtClean="0"/>
              <a:t>that we do not have data available for?</a:t>
            </a:r>
            <a:endParaRPr lang="en-GB" dirty="0"/>
          </a:p>
        </p:txBody>
      </p:sp>
      <p:sp>
        <p:nvSpPr>
          <p:cNvPr id="3" name="Content Placeholder 2"/>
          <p:cNvSpPr>
            <a:spLocks noGrp="1"/>
          </p:cNvSpPr>
          <p:nvPr>
            <p:ph idx="1"/>
          </p:nvPr>
        </p:nvSpPr>
        <p:spPr>
          <a:xfrm>
            <a:off x="1003005" y="2015732"/>
            <a:ext cx="4793946" cy="4169408"/>
          </a:xfrm>
        </p:spPr>
        <p:txBody>
          <a:bodyPr>
            <a:normAutofit/>
          </a:bodyPr>
          <a:lstStyle/>
          <a:p>
            <a:r>
              <a:rPr lang="en-GB" dirty="0" smtClean="0"/>
              <a:t>Quality </a:t>
            </a:r>
            <a:r>
              <a:rPr lang="en-GB" dirty="0"/>
              <a:t>of riders</a:t>
            </a:r>
          </a:p>
          <a:p>
            <a:pPr lvl="1"/>
            <a:r>
              <a:rPr lang="en-GB" dirty="0"/>
              <a:t>Rider rating</a:t>
            </a:r>
          </a:p>
          <a:p>
            <a:pPr lvl="1"/>
            <a:r>
              <a:rPr lang="en-GB" dirty="0"/>
              <a:t>Rider feedback</a:t>
            </a:r>
          </a:p>
          <a:p>
            <a:pPr lvl="1"/>
            <a:r>
              <a:rPr lang="en-GB" dirty="0"/>
              <a:t>Rider speed/unit congestion</a:t>
            </a:r>
          </a:p>
          <a:p>
            <a:pPr lvl="1"/>
            <a:r>
              <a:rPr lang="en-GB" dirty="0"/>
              <a:t>On-time delivery rate</a:t>
            </a:r>
          </a:p>
          <a:p>
            <a:pPr lvl="1"/>
            <a:r>
              <a:rPr lang="en-GB" dirty="0"/>
              <a:t>On-time delivery discrepancy</a:t>
            </a:r>
          </a:p>
          <a:p>
            <a:endParaRPr lang="en-GB" dirty="0"/>
          </a:p>
        </p:txBody>
      </p:sp>
      <p:sp>
        <p:nvSpPr>
          <p:cNvPr id="6" name="Content Placeholder 2"/>
          <p:cNvSpPr txBox="1">
            <a:spLocks/>
          </p:cNvSpPr>
          <p:nvPr/>
        </p:nvSpPr>
        <p:spPr>
          <a:xfrm>
            <a:off x="6452558" y="2015732"/>
            <a:ext cx="5000447" cy="4169408"/>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GB" dirty="0" smtClean="0"/>
              <a:t>ROI on riders</a:t>
            </a:r>
          </a:p>
          <a:p>
            <a:pPr lvl="1"/>
            <a:r>
              <a:rPr lang="en-GB" dirty="0" smtClean="0"/>
              <a:t>Referral cost/operational profit rate</a:t>
            </a:r>
          </a:p>
          <a:p>
            <a:r>
              <a:rPr lang="en-GB" dirty="0" smtClean="0"/>
              <a:t>Supply gap plugging of riders</a:t>
            </a:r>
          </a:p>
          <a:p>
            <a:pPr lvl="1"/>
            <a:r>
              <a:rPr lang="en-GB" dirty="0" smtClean="0"/>
              <a:t>Orders delivered/unit demand</a:t>
            </a:r>
          </a:p>
          <a:p>
            <a:endParaRPr lang="en-GB" dirty="0"/>
          </a:p>
        </p:txBody>
      </p:sp>
    </p:spTree>
    <p:extLst>
      <p:ext uri="{BB962C8B-B14F-4D97-AF65-F5344CB8AC3E}">
        <p14:creationId xmlns:p14="http://schemas.microsoft.com/office/powerpoint/2010/main" val="3277352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Data considerations</a:t>
            </a:r>
            <a:endParaRPr lang="en-GB" dirty="0"/>
          </a:p>
        </p:txBody>
      </p:sp>
      <p:sp>
        <p:nvSpPr>
          <p:cNvPr id="3" name="Content Placeholder 2"/>
          <p:cNvSpPr>
            <a:spLocks noGrp="1"/>
          </p:cNvSpPr>
          <p:nvPr>
            <p:ph idx="1"/>
          </p:nvPr>
        </p:nvSpPr>
        <p:spPr>
          <a:xfrm>
            <a:off x="1451579" y="2015732"/>
            <a:ext cx="9603275" cy="4005506"/>
          </a:xfrm>
        </p:spPr>
        <p:txBody>
          <a:bodyPr>
            <a:normAutofit/>
          </a:bodyPr>
          <a:lstStyle/>
          <a:p>
            <a:r>
              <a:rPr lang="en-GB" dirty="0" smtClean="0"/>
              <a:t>Data has tells us what is happening after 1 week, 2 weeks, 4 weeks, 8 weeks, 12 weeks and 24 weeks</a:t>
            </a:r>
          </a:p>
          <a:p>
            <a:r>
              <a:rPr lang="en-GB" dirty="0" smtClean="0"/>
              <a:t>We can tell how the metrics available change:</a:t>
            </a:r>
          </a:p>
          <a:p>
            <a:pPr lvl="1"/>
            <a:r>
              <a:rPr lang="en-GB" dirty="0" smtClean="0"/>
              <a:t>Over time</a:t>
            </a:r>
          </a:p>
          <a:p>
            <a:pPr lvl="1"/>
            <a:r>
              <a:rPr lang="en-GB" dirty="0" smtClean="0"/>
              <a:t>Across different cities:</a:t>
            </a:r>
          </a:p>
          <a:p>
            <a:pPr lvl="2"/>
            <a:r>
              <a:rPr lang="en-GB" dirty="0" smtClean="0"/>
              <a:t>3 different cities</a:t>
            </a:r>
            <a:endParaRPr lang="en-GB" dirty="0" smtClean="0"/>
          </a:p>
          <a:p>
            <a:pPr lvl="2"/>
            <a:r>
              <a:rPr lang="en-GB" dirty="0" smtClean="0"/>
              <a:t>Cape Town </a:t>
            </a:r>
            <a:r>
              <a:rPr lang="en-GB" dirty="0" smtClean="0"/>
              <a:t>has by far the least (324 riders), but its sufficient for analysis</a:t>
            </a:r>
          </a:p>
          <a:p>
            <a:pPr lvl="1"/>
            <a:r>
              <a:rPr lang="en-GB" dirty="0" smtClean="0"/>
              <a:t>Across different vehicle types:</a:t>
            </a:r>
          </a:p>
          <a:p>
            <a:pPr lvl="2"/>
            <a:r>
              <a:rPr lang="en-GB" dirty="0" smtClean="0"/>
              <a:t>Only Bicycle and Scooter/Motorbikes have ample data for meaningful analysis</a:t>
            </a:r>
          </a:p>
          <a:p>
            <a:pPr lvl="2"/>
            <a:r>
              <a:rPr lang="en-GB" dirty="0" smtClean="0"/>
              <a:t>Electric bikes, Motor Vehicles and Pedestrian/Walkers are grouped up as “Other”</a:t>
            </a:r>
          </a:p>
        </p:txBody>
      </p:sp>
    </p:spTree>
    <p:extLst>
      <p:ext uri="{BB962C8B-B14F-4D97-AF65-F5344CB8AC3E}">
        <p14:creationId xmlns:p14="http://schemas.microsoft.com/office/powerpoint/2010/main" val="2568143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Data considerations</a:t>
            </a:r>
            <a:endParaRPr lang="en-GB" dirty="0"/>
          </a:p>
        </p:txBody>
      </p:sp>
      <p:sp>
        <p:nvSpPr>
          <p:cNvPr id="3" name="Content Placeholder 2"/>
          <p:cNvSpPr>
            <a:spLocks noGrp="1"/>
          </p:cNvSpPr>
          <p:nvPr>
            <p:ph idx="1"/>
          </p:nvPr>
        </p:nvSpPr>
        <p:spPr>
          <a:xfrm>
            <a:off x="1026052" y="1853754"/>
            <a:ext cx="10454327" cy="4290800"/>
          </a:xfrm>
        </p:spPr>
        <p:txBody>
          <a:bodyPr>
            <a:normAutofit fontScale="77500" lnSpcReduction="20000"/>
          </a:bodyPr>
          <a:lstStyle/>
          <a:p>
            <a:r>
              <a:rPr lang="en-GB" dirty="0" smtClean="0"/>
              <a:t>Normalised metrics are standardised for each combination of city and vehicles that have enough data (largest </a:t>
            </a:r>
            <a:r>
              <a:rPr lang="en-GB" dirty="0"/>
              <a:t>excluded</a:t>
            </a:r>
            <a:r>
              <a:rPr lang="en-GB" dirty="0" smtClean="0"/>
              <a:t> combination is </a:t>
            </a:r>
            <a:r>
              <a:rPr lang="en-GB" dirty="0" smtClean="0"/>
              <a:t>Cape Town, </a:t>
            </a:r>
            <a:r>
              <a:rPr lang="en-GB" dirty="0" smtClean="0"/>
              <a:t>Motor Vehicle which has 48 riders):</a:t>
            </a:r>
          </a:p>
          <a:p>
            <a:pPr lvl="1"/>
            <a:r>
              <a:rPr lang="en-GB" dirty="0" smtClean="0"/>
              <a:t>Rio de Janeiro, </a:t>
            </a:r>
            <a:r>
              <a:rPr lang="en-GB" dirty="0" smtClean="0"/>
              <a:t>Bike</a:t>
            </a:r>
          </a:p>
          <a:p>
            <a:pPr lvl="1"/>
            <a:r>
              <a:rPr lang="en-GB" dirty="0" smtClean="0"/>
              <a:t>Cape Town, </a:t>
            </a:r>
            <a:r>
              <a:rPr lang="en-GB" dirty="0" smtClean="0"/>
              <a:t>Bike</a:t>
            </a:r>
          </a:p>
          <a:p>
            <a:pPr lvl="1"/>
            <a:r>
              <a:rPr lang="en-GB" dirty="0" smtClean="0"/>
              <a:t>New York, </a:t>
            </a:r>
            <a:r>
              <a:rPr lang="en-GB" dirty="0" smtClean="0"/>
              <a:t>Bike</a:t>
            </a:r>
          </a:p>
          <a:p>
            <a:pPr lvl="1"/>
            <a:r>
              <a:rPr lang="en-GB" dirty="0" smtClean="0"/>
              <a:t>New York, </a:t>
            </a:r>
            <a:r>
              <a:rPr lang="en-GB" dirty="0" smtClean="0"/>
              <a:t>Scooter/Motorbike</a:t>
            </a:r>
          </a:p>
          <a:p>
            <a:r>
              <a:rPr lang="en-GB" dirty="0" smtClean="0"/>
              <a:t> Normalised values have 0 as the minimum, 1 is the 99</a:t>
            </a:r>
            <a:r>
              <a:rPr lang="en-GB" baseline="30000" dirty="0" smtClean="0"/>
              <a:t>th</a:t>
            </a:r>
            <a:r>
              <a:rPr lang="en-GB" dirty="0" smtClean="0"/>
              <a:t> percentile value</a:t>
            </a:r>
          </a:p>
          <a:p>
            <a:r>
              <a:rPr lang="en-GB" dirty="0" smtClean="0"/>
              <a:t>The only channel that loses a relevant proportion of riders is the Unknown channel – loses 9% of riders with a loss of 10 rider</a:t>
            </a:r>
          </a:p>
          <a:p>
            <a:r>
              <a:rPr lang="en-GB" dirty="0" smtClean="0"/>
              <a:t>Loses 90 riders in total (1.7% of riders)</a:t>
            </a:r>
          </a:p>
          <a:p>
            <a:r>
              <a:rPr lang="en-GB" dirty="0" smtClean="0"/>
              <a:t>Useful alongside normal totals to see if numbers are being skewed by compositional imbalance between the hours worked, orders </a:t>
            </a:r>
            <a:r>
              <a:rPr lang="en-GB" dirty="0" smtClean="0"/>
              <a:t>delivered</a:t>
            </a:r>
            <a:r>
              <a:rPr lang="en-GB" dirty="0" smtClean="0"/>
              <a:t>, </a:t>
            </a:r>
            <a:r>
              <a:rPr lang="en-GB" dirty="0" err="1" smtClean="0"/>
              <a:t>etc</a:t>
            </a:r>
            <a:r>
              <a:rPr lang="en-GB" dirty="0" smtClean="0"/>
              <a:t> across different vehicle types in different location</a:t>
            </a:r>
          </a:p>
          <a:p>
            <a:r>
              <a:rPr lang="en-GB" dirty="0"/>
              <a:t>U</a:t>
            </a:r>
            <a:r>
              <a:rPr lang="en-GB" dirty="0" smtClean="0"/>
              <a:t>sing a bike in </a:t>
            </a:r>
            <a:r>
              <a:rPr lang="en-GB" dirty="0" smtClean="0"/>
              <a:t>Cape Town </a:t>
            </a:r>
            <a:r>
              <a:rPr lang="en-GB" dirty="0" smtClean="0"/>
              <a:t>may mean being able to work or deliver different amounts than say using a scooter in </a:t>
            </a:r>
            <a:r>
              <a:rPr lang="en-GB" dirty="0" smtClean="0"/>
              <a:t>New York</a:t>
            </a:r>
            <a:endParaRPr lang="en-GB" dirty="0"/>
          </a:p>
        </p:txBody>
      </p:sp>
    </p:spTree>
    <p:extLst>
      <p:ext uri="{BB962C8B-B14F-4D97-AF65-F5344CB8AC3E}">
        <p14:creationId xmlns:p14="http://schemas.microsoft.com/office/powerpoint/2010/main" val="3145700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Edge cases</a:t>
            </a:r>
            <a:endParaRPr lang="en-GB" dirty="0"/>
          </a:p>
        </p:txBody>
      </p:sp>
      <p:sp>
        <p:nvSpPr>
          <p:cNvPr id="3" name="Content Placeholder 2"/>
          <p:cNvSpPr>
            <a:spLocks noGrp="1"/>
          </p:cNvSpPr>
          <p:nvPr>
            <p:ph idx="1"/>
          </p:nvPr>
        </p:nvSpPr>
        <p:spPr>
          <a:xfrm>
            <a:off x="1451579" y="2015732"/>
            <a:ext cx="9603275" cy="3945121"/>
          </a:xfrm>
        </p:spPr>
        <p:txBody>
          <a:bodyPr>
            <a:normAutofit/>
          </a:bodyPr>
          <a:lstStyle/>
          <a:p>
            <a:r>
              <a:rPr lang="en-GB" dirty="0" smtClean="0"/>
              <a:t>Riders are included if they have either:</a:t>
            </a:r>
          </a:p>
          <a:p>
            <a:pPr lvl="1"/>
            <a:r>
              <a:rPr lang="en-GB" dirty="0" smtClean="0"/>
              <a:t>Worked 7 hours within 24 weeks of acquisition</a:t>
            </a:r>
          </a:p>
          <a:p>
            <a:pPr lvl="2"/>
            <a:r>
              <a:rPr lang="en-GB" dirty="0" smtClean="0"/>
              <a:t>bottom 8% of all riders have worked less hours</a:t>
            </a:r>
          </a:p>
          <a:p>
            <a:pPr lvl="2"/>
            <a:r>
              <a:rPr lang="en-GB" dirty="0" smtClean="0"/>
              <a:t>Retains the top 3% of riders who have made 0 orders, in terms of hours worked</a:t>
            </a:r>
          </a:p>
          <a:p>
            <a:pPr lvl="1"/>
            <a:r>
              <a:rPr lang="en-GB" dirty="0" smtClean="0"/>
              <a:t>Made 7 Orders within 24 weeks of acquisition</a:t>
            </a:r>
          </a:p>
          <a:p>
            <a:pPr lvl="2"/>
            <a:r>
              <a:rPr lang="en-GB" dirty="0" smtClean="0"/>
              <a:t>bottom 7% of all riders have delivered less orders</a:t>
            </a:r>
          </a:p>
          <a:p>
            <a:pPr lvl="2"/>
            <a:r>
              <a:rPr lang="en-GB" dirty="0" smtClean="0"/>
              <a:t>Retains 30% of riders who have worked below the hours worked threshold of 7 hours</a:t>
            </a:r>
          </a:p>
          <a:p>
            <a:pPr lvl="1"/>
            <a:r>
              <a:rPr lang="en-GB" dirty="0" smtClean="0"/>
              <a:t>Riders that cannot fulfil either criterion make up 5.5% of all riders</a:t>
            </a:r>
          </a:p>
          <a:p>
            <a:endParaRPr lang="en-GB" dirty="0"/>
          </a:p>
        </p:txBody>
      </p:sp>
    </p:spTree>
    <p:extLst>
      <p:ext uri="{BB962C8B-B14F-4D97-AF65-F5344CB8AC3E}">
        <p14:creationId xmlns:p14="http://schemas.microsoft.com/office/powerpoint/2010/main" val="1876595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Edge cases</a:t>
            </a:r>
            <a:endParaRPr lang="en-GB" dirty="0"/>
          </a:p>
        </p:txBody>
      </p:sp>
      <p:sp>
        <p:nvSpPr>
          <p:cNvPr id="3" name="Content Placeholder 2"/>
          <p:cNvSpPr>
            <a:spLocks noGrp="1"/>
          </p:cNvSpPr>
          <p:nvPr>
            <p:ph idx="1"/>
          </p:nvPr>
        </p:nvSpPr>
        <p:spPr>
          <a:xfrm>
            <a:off x="1451579" y="2015732"/>
            <a:ext cx="9603275" cy="3901989"/>
          </a:xfrm>
        </p:spPr>
        <p:txBody>
          <a:bodyPr>
            <a:normAutofit fontScale="92500" lnSpcReduction="10000"/>
          </a:bodyPr>
          <a:lstStyle/>
          <a:p>
            <a:r>
              <a:rPr lang="en-GB" dirty="0" smtClean="0"/>
              <a:t>Values are capped at the top 0.5% of riders for the following metrics to avoid skewing averages:</a:t>
            </a:r>
          </a:p>
          <a:p>
            <a:pPr lvl="1"/>
            <a:r>
              <a:rPr lang="en-GB" dirty="0" smtClean="0"/>
              <a:t>Hours worked</a:t>
            </a:r>
          </a:p>
          <a:p>
            <a:pPr lvl="1"/>
            <a:r>
              <a:rPr lang="en-GB" dirty="0" smtClean="0"/>
              <a:t>Orders delivered</a:t>
            </a:r>
          </a:p>
          <a:p>
            <a:pPr lvl="1"/>
            <a:r>
              <a:rPr lang="en-GB" dirty="0" smtClean="0"/>
              <a:t>Throughput</a:t>
            </a:r>
          </a:p>
          <a:p>
            <a:pPr lvl="1"/>
            <a:r>
              <a:rPr lang="en-GB" dirty="0" smtClean="0"/>
              <a:t>Successful referrals</a:t>
            </a:r>
          </a:p>
          <a:p>
            <a:r>
              <a:rPr lang="en-GB" dirty="0" smtClean="0"/>
              <a:t>0.5% was chosen by plotting the quartile values of these metrics to see when the biggest spikes were occurring</a:t>
            </a:r>
          </a:p>
          <a:p>
            <a:r>
              <a:rPr lang="en-GB" dirty="0" smtClean="0"/>
              <a:t>This way the numbers that are way bigger, the top 0.5% are included in the data but not skewing averages as much</a:t>
            </a:r>
          </a:p>
          <a:p>
            <a:pPr lvl="1"/>
            <a:endParaRPr lang="en-GB" dirty="0" smtClean="0"/>
          </a:p>
          <a:p>
            <a:endParaRPr lang="en-GB" dirty="0"/>
          </a:p>
        </p:txBody>
      </p:sp>
    </p:spTree>
    <p:extLst>
      <p:ext uri="{BB962C8B-B14F-4D97-AF65-F5344CB8AC3E}">
        <p14:creationId xmlns:p14="http://schemas.microsoft.com/office/powerpoint/2010/main" val="16545864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2"/>
          <a:stretch>
            <a:fillRect/>
          </a:stretch>
        </p:blipFill>
        <p:spPr>
          <a:xfrm>
            <a:off x="3321171" y="5370566"/>
            <a:ext cx="8535591" cy="1286054"/>
          </a:xfrm>
          <a:prstGeom prst="rect">
            <a:avLst/>
          </a:prstGeom>
        </p:spPr>
      </p:pic>
      <p:sp>
        <p:nvSpPr>
          <p:cNvPr id="2" name="Title 1"/>
          <p:cNvSpPr>
            <a:spLocks noGrp="1"/>
          </p:cNvSpPr>
          <p:nvPr>
            <p:ph type="title"/>
          </p:nvPr>
        </p:nvSpPr>
        <p:spPr/>
        <p:txBody>
          <a:bodyPr/>
          <a:lstStyle/>
          <a:p>
            <a:pPr algn="ctr"/>
            <a:r>
              <a:rPr lang="en-GB" dirty="0" smtClean="0"/>
              <a:t>Acquisition volume</a:t>
            </a:r>
            <a:endParaRPr lang="en-GB" dirty="0"/>
          </a:p>
        </p:txBody>
      </p:sp>
      <p:sp>
        <p:nvSpPr>
          <p:cNvPr id="8" name="Content Placeholder 7"/>
          <p:cNvSpPr>
            <a:spLocks noGrp="1"/>
          </p:cNvSpPr>
          <p:nvPr>
            <p:ph idx="1"/>
          </p:nvPr>
        </p:nvSpPr>
        <p:spPr>
          <a:xfrm>
            <a:off x="3599410" y="1853754"/>
            <a:ext cx="8011745" cy="3160117"/>
          </a:xfrm>
        </p:spPr>
        <p:txBody>
          <a:bodyPr/>
          <a:lstStyle/>
          <a:p>
            <a:r>
              <a:rPr lang="en-GB" dirty="0" smtClean="0"/>
              <a:t>We can see that </a:t>
            </a:r>
            <a:r>
              <a:rPr lang="en-GB" dirty="0" smtClean="0"/>
              <a:t>referrals are </a:t>
            </a:r>
            <a:r>
              <a:rPr lang="en-GB" dirty="0" smtClean="0"/>
              <a:t>second to only organically acquired riders</a:t>
            </a:r>
          </a:p>
          <a:p>
            <a:r>
              <a:rPr lang="en-GB" dirty="0" smtClean="0"/>
              <a:t>New York </a:t>
            </a:r>
            <a:r>
              <a:rPr lang="en-GB" dirty="0" smtClean="0"/>
              <a:t>is where </a:t>
            </a:r>
            <a:r>
              <a:rPr lang="en-US" dirty="0"/>
              <a:t>the referral scheme</a:t>
            </a:r>
            <a:r>
              <a:rPr lang="en-GB" dirty="0" smtClean="0"/>
              <a:t> </a:t>
            </a:r>
            <a:r>
              <a:rPr lang="en-GB" dirty="0" smtClean="0"/>
              <a:t>has really taken off, making up the bulk of riders referred</a:t>
            </a:r>
          </a:p>
          <a:p>
            <a:r>
              <a:rPr lang="en-GB" dirty="0" smtClean="0"/>
              <a:t>Referrals still makes up the second biggest source of riders in </a:t>
            </a:r>
            <a:r>
              <a:rPr lang="en-GB" dirty="0" smtClean="0"/>
              <a:t>Rio de Janeiro, </a:t>
            </a:r>
            <a:r>
              <a:rPr lang="en-GB" dirty="0" smtClean="0"/>
              <a:t>but haven’t substantially contributed to the city’s source of riders</a:t>
            </a:r>
          </a:p>
          <a:p>
            <a:r>
              <a:rPr lang="en-GB" dirty="0" smtClean="0"/>
              <a:t>Referrals make up the smallest source of riders in </a:t>
            </a:r>
            <a:r>
              <a:rPr lang="en-GB" dirty="0" smtClean="0"/>
              <a:t>Cape Town</a:t>
            </a:r>
            <a:endParaRPr lang="en-GB" dirty="0"/>
          </a:p>
        </p:txBody>
      </p:sp>
      <p:pic>
        <p:nvPicPr>
          <p:cNvPr id="10" name="Picture 9"/>
          <p:cNvPicPr>
            <a:picLocks noChangeAspect="1"/>
          </p:cNvPicPr>
          <p:nvPr/>
        </p:nvPicPr>
        <p:blipFill>
          <a:blip r:embed="rId3"/>
          <a:stretch>
            <a:fillRect/>
          </a:stretch>
        </p:blipFill>
        <p:spPr>
          <a:xfrm>
            <a:off x="153108" y="1135963"/>
            <a:ext cx="3168063" cy="5520657"/>
          </a:xfrm>
          <a:prstGeom prst="rect">
            <a:avLst/>
          </a:prstGeom>
        </p:spPr>
      </p:pic>
      <p:pic>
        <p:nvPicPr>
          <p:cNvPr id="17" name="Picture 16"/>
          <p:cNvPicPr>
            <a:picLocks noChangeAspect="1"/>
          </p:cNvPicPr>
          <p:nvPr/>
        </p:nvPicPr>
        <p:blipFill>
          <a:blip r:embed="rId4"/>
          <a:stretch>
            <a:fillRect/>
          </a:stretch>
        </p:blipFill>
        <p:spPr>
          <a:xfrm>
            <a:off x="10835409" y="4361328"/>
            <a:ext cx="1021353" cy="1158140"/>
          </a:xfrm>
          <a:prstGeom prst="rect">
            <a:avLst/>
          </a:prstGeom>
        </p:spPr>
      </p:pic>
      <p:pic>
        <p:nvPicPr>
          <p:cNvPr id="3" name="Picture 2"/>
          <p:cNvPicPr>
            <a:picLocks noChangeAspect="1"/>
          </p:cNvPicPr>
          <p:nvPr/>
        </p:nvPicPr>
        <p:blipFill>
          <a:blip r:embed="rId5"/>
          <a:stretch>
            <a:fillRect/>
          </a:stretch>
        </p:blipFill>
        <p:spPr>
          <a:xfrm>
            <a:off x="1266729" y="2509327"/>
            <a:ext cx="1991003" cy="943107"/>
          </a:xfrm>
          <a:prstGeom prst="rect">
            <a:avLst/>
          </a:prstGeom>
        </p:spPr>
      </p:pic>
    </p:spTree>
    <p:extLst>
      <p:ext uri="{BB962C8B-B14F-4D97-AF65-F5344CB8AC3E}">
        <p14:creationId xmlns:p14="http://schemas.microsoft.com/office/powerpoint/2010/main" val="34998901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Acquisition volume</a:t>
            </a:r>
            <a:endParaRPr lang="en-GB" dirty="0"/>
          </a:p>
        </p:txBody>
      </p:sp>
      <p:sp>
        <p:nvSpPr>
          <p:cNvPr id="8" name="Content Placeholder 7"/>
          <p:cNvSpPr>
            <a:spLocks noGrp="1"/>
          </p:cNvSpPr>
          <p:nvPr>
            <p:ph idx="1"/>
          </p:nvPr>
        </p:nvSpPr>
        <p:spPr>
          <a:xfrm>
            <a:off x="3582938" y="1853755"/>
            <a:ext cx="8176606" cy="3199020"/>
          </a:xfrm>
        </p:spPr>
        <p:txBody>
          <a:bodyPr/>
          <a:lstStyle/>
          <a:p>
            <a:r>
              <a:rPr lang="en-GB" dirty="0" smtClean="0"/>
              <a:t>Referrals are entirely Bikes and Scooters bar 2 riders, with Bikes making up the biggest share</a:t>
            </a:r>
          </a:p>
          <a:p>
            <a:r>
              <a:rPr lang="en-GB" dirty="0" smtClean="0"/>
              <a:t>Scooters make up a biggest proportion of referrals compared to other channels though</a:t>
            </a:r>
          </a:p>
          <a:p>
            <a:r>
              <a:rPr lang="en-GB" dirty="0" smtClean="0"/>
              <a:t>Referrals make up the second biggest source of riders using a bike</a:t>
            </a:r>
            <a:endParaRPr lang="en-GB" dirty="0"/>
          </a:p>
        </p:txBody>
      </p:sp>
      <p:pic>
        <p:nvPicPr>
          <p:cNvPr id="11" name="Picture 10"/>
          <p:cNvPicPr>
            <a:picLocks noChangeAspect="1"/>
          </p:cNvPicPr>
          <p:nvPr/>
        </p:nvPicPr>
        <p:blipFill>
          <a:blip r:embed="rId2"/>
          <a:stretch>
            <a:fillRect/>
          </a:stretch>
        </p:blipFill>
        <p:spPr>
          <a:xfrm>
            <a:off x="274954" y="948240"/>
            <a:ext cx="3198817" cy="5520657"/>
          </a:xfrm>
          <a:prstGeom prst="rect">
            <a:avLst/>
          </a:prstGeom>
        </p:spPr>
      </p:pic>
      <p:pic>
        <p:nvPicPr>
          <p:cNvPr id="12" name="Picture 11"/>
          <p:cNvPicPr>
            <a:picLocks noChangeAspect="1"/>
          </p:cNvPicPr>
          <p:nvPr/>
        </p:nvPicPr>
        <p:blipFill>
          <a:blip r:embed="rId3"/>
          <a:stretch>
            <a:fillRect/>
          </a:stretch>
        </p:blipFill>
        <p:spPr>
          <a:xfrm>
            <a:off x="1285044" y="2768618"/>
            <a:ext cx="2007829" cy="918615"/>
          </a:xfrm>
          <a:prstGeom prst="rect">
            <a:avLst/>
          </a:prstGeom>
        </p:spPr>
      </p:pic>
      <p:pic>
        <p:nvPicPr>
          <p:cNvPr id="6" name="Picture 5"/>
          <p:cNvPicPr>
            <a:picLocks noChangeAspect="1"/>
          </p:cNvPicPr>
          <p:nvPr/>
        </p:nvPicPr>
        <p:blipFill>
          <a:blip r:embed="rId4"/>
          <a:stretch>
            <a:fillRect/>
          </a:stretch>
        </p:blipFill>
        <p:spPr>
          <a:xfrm>
            <a:off x="3473771" y="5193032"/>
            <a:ext cx="8386937" cy="1275865"/>
          </a:xfrm>
          <a:prstGeom prst="rect">
            <a:avLst/>
          </a:prstGeom>
        </p:spPr>
      </p:pic>
      <p:pic>
        <p:nvPicPr>
          <p:cNvPr id="9" name="Picture 8"/>
          <p:cNvPicPr>
            <a:picLocks noChangeAspect="1"/>
          </p:cNvPicPr>
          <p:nvPr/>
        </p:nvPicPr>
        <p:blipFill>
          <a:blip r:embed="rId5"/>
          <a:stretch>
            <a:fillRect/>
          </a:stretch>
        </p:blipFill>
        <p:spPr>
          <a:xfrm>
            <a:off x="10756527" y="4076449"/>
            <a:ext cx="1104181" cy="1252061"/>
          </a:xfrm>
          <a:prstGeom prst="rect">
            <a:avLst/>
          </a:prstGeom>
        </p:spPr>
      </p:pic>
    </p:spTree>
    <p:extLst>
      <p:ext uri="{BB962C8B-B14F-4D97-AF65-F5344CB8AC3E}">
        <p14:creationId xmlns:p14="http://schemas.microsoft.com/office/powerpoint/2010/main" val="24688780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availability</a:t>
            </a:r>
            <a:endParaRPr lang="en-GB" dirty="0"/>
          </a:p>
        </p:txBody>
      </p:sp>
      <p:sp>
        <p:nvSpPr>
          <p:cNvPr id="3" name="Content Placeholder 2"/>
          <p:cNvSpPr>
            <a:spLocks noGrp="1"/>
          </p:cNvSpPr>
          <p:nvPr>
            <p:ph idx="1"/>
          </p:nvPr>
        </p:nvSpPr>
        <p:spPr>
          <a:xfrm>
            <a:off x="3554082" y="1853754"/>
            <a:ext cx="5309933" cy="4710948"/>
          </a:xfrm>
        </p:spPr>
        <p:txBody>
          <a:bodyPr/>
          <a:lstStyle/>
          <a:p>
            <a:r>
              <a:rPr lang="en-GB" dirty="0" smtClean="0"/>
              <a:t>Riders that were referred are at the upper end of availability</a:t>
            </a:r>
          </a:p>
          <a:p>
            <a:r>
              <a:rPr lang="en-GB" dirty="0" smtClean="0"/>
              <a:t>They do the most number of hours of work on average</a:t>
            </a:r>
          </a:p>
          <a:p>
            <a:r>
              <a:rPr lang="en-GB" dirty="0" smtClean="0"/>
              <a:t>Only just losing out to Unknown channels when normalised by vehicle and city combinations</a:t>
            </a:r>
          </a:p>
          <a:p>
            <a:pPr lvl="1"/>
            <a:r>
              <a:rPr lang="en-GB" dirty="0" smtClean="0"/>
              <a:t>Albeit Unknown channels have far less riders so the data is more sensitive are less reliable</a:t>
            </a:r>
            <a:endParaRPr lang="en-GB" dirty="0"/>
          </a:p>
        </p:txBody>
      </p:sp>
      <p:pic>
        <p:nvPicPr>
          <p:cNvPr id="6" name="Picture 5"/>
          <p:cNvPicPr>
            <a:picLocks noChangeAspect="1"/>
          </p:cNvPicPr>
          <p:nvPr/>
        </p:nvPicPr>
        <p:blipFill>
          <a:blip r:embed="rId2"/>
          <a:stretch>
            <a:fillRect/>
          </a:stretch>
        </p:blipFill>
        <p:spPr>
          <a:xfrm>
            <a:off x="8803878" y="1173191"/>
            <a:ext cx="3194708" cy="5069289"/>
          </a:xfrm>
          <a:prstGeom prst="rect">
            <a:avLst/>
          </a:prstGeom>
        </p:spPr>
      </p:pic>
      <p:pic>
        <p:nvPicPr>
          <p:cNvPr id="4" name="Picture 3"/>
          <p:cNvPicPr>
            <a:picLocks noChangeAspect="1"/>
          </p:cNvPicPr>
          <p:nvPr/>
        </p:nvPicPr>
        <p:blipFill>
          <a:blip r:embed="rId3"/>
          <a:stretch>
            <a:fillRect/>
          </a:stretch>
        </p:blipFill>
        <p:spPr>
          <a:xfrm>
            <a:off x="240402" y="1329136"/>
            <a:ext cx="3383115" cy="4539452"/>
          </a:xfrm>
          <a:prstGeom prst="rect">
            <a:avLst/>
          </a:prstGeom>
        </p:spPr>
      </p:pic>
    </p:spTree>
    <p:extLst>
      <p:ext uri="{BB962C8B-B14F-4D97-AF65-F5344CB8AC3E}">
        <p14:creationId xmlns:p14="http://schemas.microsoft.com/office/powerpoint/2010/main" val="30082845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availability</a:t>
            </a:r>
            <a:endParaRPr lang="en-GB" dirty="0"/>
          </a:p>
        </p:txBody>
      </p:sp>
      <p:sp>
        <p:nvSpPr>
          <p:cNvPr id="3" name="Content Placeholder 2"/>
          <p:cNvSpPr>
            <a:spLocks noGrp="1"/>
          </p:cNvSpPr>
          <p:nvPr>
            <p:ph idx="1"/>
          </p:nvPr>
        </p:nvSpPr>
        <p:spPr>
          <a:xfrm>
            <a:off x="198408" y="1853754"/>
            <a:ext cx="4382218" cy="4555672"/>
          </a:xfrm>
        </p:spPr>
        <p:txBody>
          <a:bodyPr>
            <a:normAutofit/>
          </a:bodyPr>
          <a:lstStyle/>
          <a:p>
            <a:r>
              <a:rPr lang="en-GB" dirty="0" smtClean="0"/>
              <a:t>We see a similar decline in the average hours worked a day per rider across different channels</a:t>
            </a:r>
          </a:p>
          <a:p>
            <a:r>
              <a:rPr lang="en-GB" dirty="0" smtClean="0"/>
              <a:t>Referred riders initially work the most per day in the 1</a:t>
            </a:r>
            <a:r>
              <a:rPr lang="en-GB" baseline="30000" dirty="0" smtClean="0"/>
              <a:t>st</a:t>
            </a:r>
            <a:r>
              <a:rPr lang="en-GB" dirty="0" smtClean="0"/>
              <a:t> week</a:t>
            </a:r>
          </a:p>
          <a:p>
            <a:r>
              <a:rPr lang="en-GB" dirty="0" smtClean="0"/>
              <a:t>Within 24 weeks they are the joint top in terms of hours worked along with riders from Unknown channels</a:t>
            </a:r>
            <a:endParaRPr lang="en-GB" dirty="0"/>
          </a:p>
        </p:txBody>
      </p:sp>
      <p:pic>
        <p:nvPicPr>
          <p:cNvPr id="9" name="Picture 8"/>
          <p:cNvPicPr>
            <a:picLocks noChangeAspect="1"/>
          </p:cNvPicPr>
          <p:nvPr/>
        </p:nvPicPr>
        <p:blipFill>
          <a:blip r:embed="rId2"/>
          <a:stretch>
            <a:fillRect/>
          </a:stretch>
        </p:blipFill>
        <p:spPr>
          <a:xfrm>
            <a:off x="4787848" y="1285335"/>
            <a:ext cx="7007304" cy="4223054"/>
          </a:xfrm>
          <a:prstGeom prst="rect">
            <a:avLst/>
          </a:prstGeom>
        </p:spPr>
      </p:pic>
    </p:spTree>
    <p:extLst>
      <p:ext uri="{BB962C8B-B14F-4D97-AF65-F5344CB8AC3E}">
        <p14:creationId xmlns:p14="http://schemas.microsoft.com/office/powerpoint/2010/main" val="30359911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availability</a:t>
            </a:r>
            <a:endParaRPr lang="en-GB" dirty="0"/>
          </a:p>
        </p:txBody>
      </p:sp>
      <p:sp>
        <p:nvSpPr>
          <p:cNvPr id="3" name="Content Placeholder 2"/>
          <p:cNvSpPr>
            <a:spLocks noGrp="1"/>
          </p:cNvSpPr>
          <p:nvPr>
            <p:ph idx="1"/>
          </p:nvPr>
        </p:nvSpPr>
        <p:spPr>
          <a:xfrm>
            <a:off x="215660" y="1776117"/>
            <a:ext cx="5077152" cy="4460782"/>
          </a:xfrm>
        </p:spPr>
        <p:txBody>
          <a:bodyPr>
            <a:normAutofit fontScale="92500" lnSpcReduction="20000"/>
          </a:bodyPr>
          <a:lstStyle/>
          <a:p>
            <a:r>
              <a:rPr lang="en-GB" dirty="0" smtClean="0"/>
              <a:t>We can see that the availability of riders acquired under referral is increasing for new riders over the months</a:t>
            </a:r>
          </a:p>
          <a:p>
            <a:r>
              <a:rPr lang="en-GB" dirty="0" smtClean="0"/>
              <a:t>Average number of hours worked per rider increases for later First Working Year-Months</a:t>
            </a:r>
          </a:p>
          <a:p>
            <a:r>
              <a:rPr lang="en-GB" dirty="0" smtClean="0"/>
              <a:t>We see a similar general trend across other channels as well though, so referrals are not necessarily doing better than other channels (like Digital and Offline)</a:t>
            </a:r>
          </a:p>
          <a:p>
            <a:r>
              <a:rPr lang="en-GB" dirty="0" smtClean="0"/>
              <a:t>But it is still increasing, unlike other channels (like Organic)</a:t>
            </a:r>
          </a:p>
          <a:p>
            <a:r>
              <a:rPr lang="en-GB" dirty="0" smtClean="0"/>
              <a:t>Started off with the most availability, but </a:t>
            </a:r>
            <a:r>
              <a:rPr lang="en-GB" dirty="0" err="1" smtClean="0"/>
              <a:t>flatlines</a:t>
            </a:r>
            <a:r>
              <a:rPr lang="en-GB" dirty="0" smtClean="0"/>
              <a:t> until jumping up in January 2017</a:t>
            </a:r>
            <a:endParaRPr lang="en-GB" dirty="0"/>
          </a:p>
        </p:txBody>
      </p:sp>
      <p:pic>
        <p:nvPicPr>
          <p:cNvPr id="8" name="Picture 7"/>
          <p:cNvPicPr>
            <a:picLocks noChangeAspect="1"/>
          </p:cNvPicPr>
          <p:nvPr/>
        </p:nvPicPr>
        <p:blipFill>
          <a:blip r:embed="rId2"/>
          <a:stretch>
            <a:fillRect/>
          </a:stretch>
        </p:blipFill>
        <p:spPr>
          <a:xfrm>
            <a:off x="5292812" y="1776117"/>
            <a:ext cx="6728201" cy="4002657"/>
          </a:xfrm>
          <a:prstGeom prst="rect">
            <a:avLst/>
          </a:prstGeom>
        </p:spPr>
      </p:pic>
    </p:spTree>
    <p:extLst>
      <p:ext uri="{BB962C8B-B14F-4D97-AF65-F5344CB8AC3E}">
        <p14:creationId xmlns:p14="http://schemas.microsoft.com/office/powerpoint/2010/main" val="7028865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Demand met</a:t>
            </a:r>
            <a:endParaRPr lang="en-GB" dirty="0"/>
          </a:p>
        </p:txBody>
      </p:sp>
      <p:sp>
        <p:nvSpPr>
          <p:cNvPr id="3" name="Content Placeholder 2"/>
          <p:cNvSpPr>
            <a:spLocks noGrp="1"/>
          </p:cNvSpPr>
          <p:nvPr>
            <p:ph idx="1"/>
          </p:nvPr>
        </p:nvSpPr>
        <p:spPr>
          <a:xfrm>
            <a:off x="4157220" y="1789519"/>
            <a:ext cx="4633097" cy="4630293"/>
          </a:xfrm>
        </p:spPr>
        <p:txBody>
          <a:bodyPr/>
          <a:lstStyle/>
          <a:p>
            <a:r>
              <a:rPr lang="en-GB" dirty="0"/>
              <a:t>Riders that were referred </a:t>
            </a:r>
            <a:r>
              <a:rPr lang="en-GB" dirty="0" smtClean="0"/>
              <a:t>meet the most demand per head</a:t>
            </a:r>
            <a:endParaRPr lang="en-GB" dirty="0"/>
          </a:p>
          <a:p>
            <a:r>
              <a:rPr lang="en-GB" dirty="0" smtClean="0"/>
              <a:t>They deliver the most orders on </a:t>
            </a:r>
            <a:r>
              <a:rPr lang="en-GB" dirty="0"/>
              <a:t>average</a:t>
            </a:r>
          </a:p>
          <a:p>
            <a:r>
              <a:rPr lang="en-GB" dirty="0" smtClean="0"/>
              <a:t>This is also the case when normalised for city and vehicle combinations</a:t>
            </a:r>
            <a:endParaRPr lang="en-GB" dirty="0"/>
          </a:p>
        </p:txBody>
      </p:sp>
      <p:pic>
        <p:nvPicPr>
          <p:cNvPr id="6" name="Picture 5"/>
          <p:cNvPicPr>
            <a:picLocks noChangeAspect="1"/>
          </p:cNvPicPr>
          <p:nvPr/>
        </p:nvPicPr>
        <p:blipFill>
          <a:blip r:embed="rId2"/>
          <a:stretch>
            <a:fillRect/>
          </a:stretch>
        </p:blipFill>
        <p:spPr>
          <a:xfrm>
            <a:off x="8790318" y="1456414"/>
            <a:ext cx="3230147" cy="4899162"/>
          </a:xfrm>
          <a:prstGeom prst="rect">
            <a:avLst/>
          </a:prstGeom>
        </p:spPr>
      </p:pic>
      <p:pic>
        <p:nvPicPr>
          <p:cNvPr id="4" name="Picture 3"/>
          <p:cNvPicPr>
            <a:picLocks noChangeAspect="1"/>
          </p:cNvPicPr>
          <p:nvPr/>
        </p:nvPicPr>
        <p:blipFill>
          <a:blip r:embed="rId3"/>
          <a:stretch>
            <a:fillRect/>
          </a:stretch>
        </p:blipFill>
        <p:spPr>
          <a:xfrm>
            <a:off x="401575" y="1456414"/>
            <a:ext cx="3660590" cy="4899162"/>
          </a:xfrm>
          <a:prstGeom prst="rect">
            <a:avLst/>
          </a:prstGeom>
        </p:spPr>
      </p:pic>
    </p:spTree>
    <p:extLst>
      <p:ext uri="{BB962C8B-B14F-4D97-AF65-F5344CB8AC3E}">
        <p14:creationId xmlns:p14="http://schemas.microsoft.com/office/powerpoint/2010/main" val="40190750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Demand met</a:t>
            </a:r>
            <a:endParaRPr lang="en-GB" dirty="0"/>
          </a:p>
        </p:txBody>
      </p:sp>
      <p:sp>
        <p:nvSpPr>
          <p:cNvPr id="3" name="Content Placeholder 2"/>
          <p:cNvSpPr>
            <a:spLocks noGrp="1"/>
          </p:cNvSpPr>
          <p:nvPr>
            <p:ph idx="1"/>
          </p:nvPr>
        </p:nvSpPr>
        <p:spPr>
          <a:xfrm>
            <a:off x="215660" y="1776117"/>
            <a:ext cx="4951563" cy="4460782"/>
          </a:xfrm>
        </p:spPr>
        <p:txBody>
          <a:bodyPr>
            <a:normAutofit/>
          </a:bodyPr>
          <a:lstStyle/>
          <a:p>
            <a:r>
              <a:rPr lang="en-GB" dirty="0" smtClean="0"/>
              <a:t>From this we can see that riders acquired through referrals are consistently strong at meeting demands across all cities</a:t>
            </a:r>
          </a:p>
          <a:p>
            <a:r>
              <a:rPr lang="en-GB" dirty="0" smtClean="0"/>
              <a:t>While riders acquired through referrals may not be #1 in each city individually, but they consistently perform strongly to meet demands</a:t>
            </a:r>
          </a:p>
          <a:p>
            <a:r>
              <a:rPr lang="en-GB" dirty="0" smtClean="0"/>
              <a:t>Other channels (like Digital for example) do very well in one city and not well at all in another city</a:t>
            </a:r>
            <a:endParaRPr lang="en-GB" dirty="0"/>
          </a:p>
        </p:txBody>
      </p:sp>
      <p:pic>
        <p:nvPicPr>
          <p:cNvPr id="6" name="Picture 5"/>
          <p:cNvPicPr>
            <a:picLocks noChangeAspect="1"/>
          </p:cNvPicPr>
          <p:nvPr/>
        </p:nvPicPr>
        <p:blipFill>
          <a:blip r:embed="rId2"/>
          <a:stretch>
            <a:fillRect/>
          </a:stretch>
        </p:blipFill>
        <p:spPr>
          <a:xfrm>
            <a:off x="5351990" y="1853754"/>
            <a:ext cx="6420746" cy="3724795"/>
          </a:xfrm>
          <a:prstGeom prst="rect">
            <a:avLst/>
          </a:prstGeom>
        </p:spPr>
      </p:pic>
    </p:spTree>
    <p:extLst>
      <p:ext uri="{BB962C8B-B14F-4D97-AF65-F5344CB8AC3E}">
        <p14:creationId xmlns:p14="http://schemas.microsoft.com/office/powerpoint/2010/main" val="25155433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Demand met</a:t>
            </a:r>
            <a:endParaRPr lang="en-GB" dirty="0"/>
          </a:p>
        </p:txBody>
      </p:sp>
      <p:sp>
        <p:nvSpPr>
          <p:cNvPr id="3" name="Content Placeholder 2"/>
          <p:cNvSpPr>
            <a:spLocks noGrp="1"/>
          </p:cNvSpPr>
          <p:nvPr>
            <p:ph idx="1"/>
          </p:nvPr>
        </p:nvSpPr>
        <p:spPr>
          <a:xfrm>
            <a:off x="198408" y="1853754"/>
            <a:ext cx="4382218" cy="4314133"/>
          </a:xfrm>
        </p:spPr>
        <p:txBody>
          <a:bodyPr>
            <a:normAutofit fontScale="85000" lnSpcReduction="10000"/>
          </a:bodyPr>
          <a:lstStyle/>
          <a:p>
            <a:r>
              <a:rPr lang="en-GB" dirty="0" smtClean="0"/>
              <a:t>We can see that the average rider has its average </a:t>
            </a:r>
            <a:r>
              <a:rPr lang="en-GB" dirty="0" smtClean="0"/>
              <a:t>orders </a:t>
            </a:r>
            <a:r>
              <a:rPr lang="en-GB" dirty="0" smtClean="0"/>
              <a:t>delivered per day decreasing until 4 weeks after acquisition, then it increases</a:t>
            </a:r>
          </a:p>
          <a:p>
            <a:r>
              <a:rPr lang="en-GB" dirty="0" smtClean="0"/>
              <a:t>This is different to Digital, Offline and Organic who all see steady declines</a:t>
            </a:r>
          </a:p>
          <a:p>
            <a:r>
              <a:rPr lang="en-GB" dirty="0" smtClean="0"/>
              <a:t>This means referred riders on average sustain the rate at which they meet demand on an ordinary day better than other channels</a:t>
            </a:r>
          </a:p>
          <a:p>
            <a:r>
              <a:rPr lang="en-GB" dirty="0" smtClean="0"/>
              <a:t>Unknown and Job Platforms also see a lift, but these channels have less data and so their data </a:t>
            </a:r>
            <a:r>
              <a:rPr lang="en-GB" dirty="0" smtClean="0"/>
              <a:t>is </a:t>
            </a:r>
            <a:r>
              <a:rPr lang="en-GB" dirty="0" smtClean="0"/>
              <a:t>more sensitive and less reliable</a:t>
            </a:r>
            <a:endParaRPr lang="en-GB" dirty="0"/>
          </a:p>
        </p:txBody>
      </p:sp>
      <p:pic>
        <p:nvPicPr>
          <p:cNvPr id="4" name="Picture 3"/>
          <p:cNvPicPr>
            <a:picLocks noChangeAspect="1"/>
          </p:cNvPicPr>
          <p:nvPr/>
        </p:nvPicPr>
        <p:blipFill>
          <a:blip r:embed="rId2"/>
          <a:stretch>
            <a:fillRect/>
          </a:stretch>
        </p:blipFill>
        <p:spPr>
          <a:xfrm>
            <a:off x="4675695" y="1853754"/>
            <a:ext cx="7260442" cy="4053159"/>
          </a:xfrm>
          <a:prstGeom prst="rect">
            <a:avLst/>
          </a:prstGeom>
        </p:spPr>
      </p:pic>
    </p:spTree>
    <p:extLst>
      <p:ext uri="{BB962C8B-B14F-4D97-AF65-F5344CB8AC3E}">
        <p14:creationId xmlns:p14="http://schemas.microsoft.com/office/powerpoint/2010/main" val="1904222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Efficiency of Demand met</a:t>
            </a:r>
            <a:endParaRPr lang="en-GB" dirty="0"/>
          </a:p>
        </p:txBody>
      </p:sp>
      <p:sp>
        <p:nvSpPr>
          <p:cNvPr id="3" name="Content Placeholder 2"/>
          <p:cNvSpPr>
            <a:spLocks noGrp="1"/>
          </p:cNvSpPr>
          <p:nvPr>
            <p:ph idx="1"/>
          </p:nvPr>
        </p:nvSpPr>
        <p:spPr>
          <a:xfrm>
            <a:off x="3930978" y="1853754"/>
            <a:ext cx="5118932" cy="4528867"/>
          </a:xfrm>
        </p:spPr>
        <p:txBody>
          <a:bodyPr/>
          <a:lstStyle/>
          <a:p>
            <a:r>
              <a:rPr lang="en-GB" dirty="0"/>
              <a:t>Riders that were referred </a:t>
            </a:r>
            <a:r>
              <a:rPr lang="en-GB" dirty="0" smtClean="0"/>
              <a:t>are some of the most efficient at meeting demand</a:t>
            </a:r>
          </a:p>
          <a:p>
            <a:r>
              <a:rPr lang="en-GB" dirty="0" smtClean="0"/>
              <a:t>They register on average the 3rd highest throughput per rider, but just shy of rider coming from unknown channels and only slightly below the acquisition with the most average Throughput per rider (Organic) by 0.09</a:t>
            </a:r>
          </a:p>
          <a:p>
            <a:r>
              <a:rPr lang="en-GB" dirty="0" smtClean="0"/>
              <a:t>When normalised for city and vehicle combinations however, they perform even better and take 2</a:t>
            </a:r>
            <a:r>
              <a:rPr lang="en-GB" baseline="30000" dirty="0" smtClean="0"/>
              <a:t>nd</a:t>
            </a:r>
            <a:r>
              <a:rPr lang="en-GB" dirty="0" smtClean="0"/>
              <a:t> spot</a:t>
            </a:r>
          </a:p>
          <a:p>
            <a:endParaRPr lang="en-GB" dirty="0"/>
          </a:p>
        </p:txBody>
      </p:sp>
      <p:pic>
        <p:nvPicPr>
          <p:cNvPr id="9" name="Picture 8"/>
          <p:cNvPicPr>
            <a:picLocks noChangeAspect="1"/>
          </p:cNvPicPr>
          <p:nvPr/>
        </p:nvPicPr>
        <p:blipFill>
          <a:blip r:embed="rId2"/>
          <a:stretch>
            <a:fillRect/>
          </a:stretch>
        </p:blipFill>
        <p:spPr>
          <a:xfrm>
            <a:off x="8873658" y="1320509"/>
            <a:ext cx="3062371" cy="5106170"/>
          </a:xfrm>
          <a:prstGeom prst="rect">
            <a:avLst/>
          </a:prstGeom>
        </p:spPr>
      </p:pic>
      <p:pic>
        <p:nvPicPr>
          <p:cNvPr id="4" name="Picture 3"/>
          <p:cNvPicPr>
            <a:picLocks noChangeAspect="1"/>
          </p:cNvPicPr>
          <p:nvPr/>
        </p:nvPicPr>
        <p:blipFill>
          <a:blip r:embed="rId3"/>
          <a:stretch>
            <a:fillRect/>
          </a:stretch>
        </p:blipFill>
        <p:spPr>
          <a:xfrm>
            <a:off x="296459" y="1420267"/>
            <a:ext cx="3520633" cy="4833884"/>
          </a:xfrm>
          <a:prstGeom prst="rect">
            <a:avLst/>
          </a:prstGeom>
        </p:spPr>
      </p:pic>
    </p:spTree>
    <p:extLst>
      <p:ext uri="{BB962C8B-B14F-4D97-AF65-F5344CB8AC3E}">
        <p14:creationId xmlns:p14="http://schemas.microsoft.com/office/powerpoint/2010/main" val="13196738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Efficiency of Demand met</a:t>
            </a:r>
            <a:endParaRPr lang="en-GB" dirty="0"/>
          </a:p>
        </p:txBody>
      </p:sp>
      <p:sp>
        <p:nvSpPr>
          <p:cNvPr id="3" name="Content Placeholder 2"/>
          <p:cNvSpPr>
            <a:spLocks noGrp="1"/>
          </p:cNvSpPr>
          <p:nvPr>
            <p:ph idx="1"/>
          </p:nvPr>
        </p:nvSpPr>
        <p:spPr>
          <a:xfrm>
            <a:off x="356533" y="1853754"/>
            <a:ext cx="4175184" cy="4314133"/>
          </a:xfrm>
        </p:spPr>
        <p:txBody>
          <a:bodyPr>
            <a:normAutofit/>
          </a:bodyPr>
          <a:lstStyle/>
          <a:p>
            <a:r>
              <a:rPr lang="en-GB" dirty="0" smtClean="0"/>
              <a:t>We can see a general trend where throughput improves over time as riders get more experienced in the role</a:t>
            </a:r>
          </a:p>
          <a:p>
            <a:r>
              <a:rPr lang="en-GB" dirty="0" smtClean="0"/>
              <a:t>This is true across all channels, including Referrals</a:t>
            </a:r>
            <a:endParaRPr lang="en-GB" dirty="0"/>
          </a:p>
        </p:txBody>
      </p:sp>
      <p:pic>
        <p:nvPicPr>
          <p:cNvPr id="6" name="Picture 5"/>
          <p:cNvPicPr>
            <a:picLocks noChangeAspect="1"/>
          </p:cNvPicPr>
          <p:nvPr/>
        </p:nvPicPr>
        <p:blipFill>
          <a:blip r:embed="rId2"/>
          <a:stretch>
            <a:fillRect/>
          </a:stretch>
        </p:blipFill>
        <p:spPr>
          <a:xfrm>
            <a:off x="4531717" y="1569606"/>
            <a:ext cx="7475501" cy="4494763"/>
          </a:xfrm>
          <a:prstGeom prst="rect">
            <a:avLst/>
          </a:prstGeom>
        </p:spPr>
      </p:pic>
    </p:spTree>
    <p:extLst>
      <p:ext uri="{BB962C8B-B14F-4D97-AF65-F5344CB8AC3E}">
        <p14:creationId xmlns:p14="http://schemas.microsoft.com/office/powerpoint/2010/main" val="21377751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Retention rates</a:t>
            </a:r>
            <a:endParaRPr lang="en-GB" dirty="0"/>
          </a:p>
        </p:txBody>
      </p:sp>
      <p:sp>
        <p:nvSpPr>
          <p:cNvPr id="3" name="Content Placeholder 2"/>
          <p:cNvSpPr>
            <a:spLocks noGrp="1"/>
          </p:cNvSpPr>
          <p:nvPr>
            <p:ph idx="1"/>
          </p:nvPr>
        </p:nvSpPr>
        <p:spPr>
          <a:xfrm>
            <a:off x="373278" y="1853754"/>
            <a:ext cx="5449552" cy="4141604"/>
          </a:xfrm>
        </p:spPr>
        <p:txBody>
          <a:bodyPr/>
          <a:lstStyle/>
          <a:p>
            <a:r>
              <a:rPr lang="en-GB" dirty="0" smtClean="0"/>
              <a:t>Riders acquired through referrals have some of the best retention across all channels, with the lowest amount of inactive riders after 24 weeks – 41%</a:t>
            </a:r>
          </a:p>
          <a:p>
            <a:r>
              <a:rPr lang="en-GB" dirty="0" smtClean="0"/>
              <a:t>All channels see a rise in riders inactivity over time ranging from 41% to 53% (Digital)</a:t>
            </a:r>
            <a:endParaRPr lang="en-GB" dirty="0"/>
          </a:p>
        </p:txBody>
      </p:sp>
      <p:pic>
        <p:nvPicPr>
          <p:cNvPr id="4" name="Picture 3"/>
          <p:cNvPicPr>
            <a:picLocks noChangeAspect="1"/>
          </p:cNvPicPr>
          <p:nvPr/>
        </p:nvPicPr>
        <p:blipFill>
          <a:blip r:embed="rId2"/>
          <a:stretch>
            <a:fillRect/>
          </a:stretch>
        </p:blipFill>
        <p:spPr>
          <a:xfrm>
            <a:off x="5681779" y="1659117"/>
            <a:ext cx="6337607" cy="3642545"/>
          </a:xfrm>
          <a:prstGeom prst="rect">
            <a:avLst/>
          </a:prstGeom>
        </p:spPr>
      </p:pic>
    </p:spTree>
    <p:extLst>
      <p:ext uri="{BB962C8B-B14F-4D97-AF65-F5344CB8AC3E}">
        <p14:creationId xmlns:p14="http://schemas.microsoft.com/office/powerpoint/2010/main" val="35478470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Retention rates</a:t>
            </a:r>
            <a:endParaRPr lang="en-GB" dirty="0"/>
          </a:p>
        </p:txBody>
      </p:sp>
      <p:sp>
        <p:nvSpPr>
          <p:cNvPr id="3" name="Content Placeholder 2"/>
          <p:cNvSpPr>
            <a:spLocks noGrp="1"/>
          </p:cNvSpPr>
          <p:nvPr>
            <p:ph idx="1"/>
          </p:nvPr>
        </p:nvSpPr>
        <p:spPr>
          <a:xfrm>
            <a:off x="373278" y="1853754"/>
            <a:ext cx="5449552" cy="4141604"/>
          </a:xfrm>
        </p:spPr>
        <p:txBody>
          <a:bodyPr/>
          <a:lstStyle/>
          <a:p>
            <a:r>
              <a:rPr lang="en-GB" dirty="0" smtClean="0"/>
              <a:t>We can see the % of referred riders being inactive is in line with other channels for Bikes</a:t>
            </a:r>
          </a:p>
          <a:p>
            <a:pPr lvl="1"/>
            <a:r>
              <a:rPr lang="en-GB" dirty="0" smtClean="0"/>
              <a:t>Referral - 54% inactive after 24 weeks</a:t>
            </a:r>
          </a:p>
          <a:p>
            <a:pPr lvl="1"/>
            <a:r>
              <a:rPr lang="en-GB" dirty="0" smtClean="0"/>
              <a:t>Offline – 56% inactive after 24 weeks</a:t>
            </a:r>
          </a:p>
          <a:p>
            <a:pPr lvl="1"/>
            <a:r>
              <a:rPr lang="en-GB" dirty="0" smtClean="0"/>
              <a:t>Digital – 56% </a:t>
            </a:r>
            <a:r>
              <a:rPr lang="en-GB" dirty="0"/>
              <a:t>inactive after 24 </a:t>
            </a:r>
            <a:r>
              <a:rPr lang="en-GB" dirty="0" smtClean="0"/>
              <a:t>weeks</a:t>
            </a:r>
          </a:p>
          <a:p>
            <a:r>
              <a:rPr lang="en-GB" dirty="0" smtClean="0"/>
              <a:t>The % of referred riders being inactive for Scooters/Motorbikes is significantly smaller than other channels however – 24% inactive after 24 weeks</a:t>
            </a:r>
            <a:endParaRPr lang="en-GB" dirty="0"/>
          </a:p>
        </p:txBody>
      </p:sp>
      <p:pic>
        <p:nvPicPr>
          <p:cNvPr id="5" name="Picture 4"/>
          <p:cNvPicPr>
            <a:picLocks noChangeAspect="1"/>
          </p:cNvPicPr>
          <p:nvPr/>
        </p:nvPicPr>
        <p:blipFill>
          <a:blip r:embed="rId2"/>
          <a:stretch>
            <a:fillRect/>
          </a:stretch>
        </p:blipFill>
        <p:spPr>
          <a:xfrm>
            <a:off x="6174556" y="153196"/>
            <a:ext cx="5722277" cy="3165321"/>
          </a:xfrm>
          <a:prstGeom prst="rect">
            <a:avLst/>
          </a:prstGeom>
        </p:spPr>
      </p:pic>
      <p:pic>
        <p:nvPicPr>
          <p:cNvPr id="7" name="Picture 6"/>
          <p:cNvPicPr>
            <a:picLocks noChangeAspect="1"/>
          </p:cNvPicPr>
          <p:nvPr/>
        </p:nvPicPr>
        <p:blipFill>
          <a:blip r:embed="rId3"/>
          <a:stretch>
            <a:fillRect/>
          </a:stretch>
        </p:blipFill>
        <p:spPr>
          <a:xfrm>
            <a:off x="6132167" y="3445703"/>
            <a:ext cx="5764666" cy="3091069"/>
          </a:xfrm>
          <a:prstGeom prst="rect">
            <a:avLst/>
          </a:prstGeom>
        </p:spPr>
      </p:pic>
    </p:spTree>
    <p:extLst>
      <p:ext uri="{BB962C8B-B14F-4D97-AF65-F5344CB8AC3E}">
        <p14:creationId xmlns:p14="http://schemas.microsoft.com/office/powerpoint/2010/main" val="233241858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Successful referrals</a:t>
            </a:r>
            <a:endParaRPr lang="en-GB" dirty="0"/>
          </a:p>
        </p:txBody>
      </p:sp>
      <p:sp>
        <p:nvSpPr>
          <p:cNvPr id="3" name="Content Placeholder 2"/>
          <p:cNvSpPr>
            <a:spLocks noGrp="1"/>
          </p:cNvSpPr>
          <p:nvPr>
            <p:ph idx="1"/>
          </p:nvPr>
        </p:nvSpPr>
        <p:spPr>
          <a:xfrm>
            <a:off x="3194886" y="1955198"/>
            <a:ext cx="5083901" cy="4169408"/>
          </a:xfrm>
        </p:spPr>
        <p:txBody>
          <a:bodyPr>
            <a:normAutofit lnSpcReduction="10000"/>
          </a:bodyPr>
          <a:lstStyle/>
          <a:p>
            <a:r>
              <a:rPr lang="en-GB" dirty="0" smtClean="0"/>
              <a:t>Riders acquired through referrals have by far the highest rate of successfully referring other riders on average 0.27 successful referrals in 24 weeks</a:t>
            </a:r>
          </a:p>
          <a:p>
            <a:r>
              <a:rPr lang="en-GB" dirty="0" smtClean="0"/>
              <a:t>The next best is riders acquired offline with on average 0.17 successful referrals in 24 weeks</a:t>
            </a:r>
          </a:p>
          <a:p>
            <a:r>
              <a:rPr lang="en-GB" dirty="0" smtClean="0"/>
              <a:t>The gap is smaller when normalising for vehicle and city combinations however</a:t>
            </a:r>
          </a:p>
          <a:p>
            <a:pPr lvl="1"/>
            <a:r>
              <a:rPr lang="en-GB" dirty="0" smtClean="0"/>
              <a:t>Referrals – 0.21</a:t>
            </a:r>
          </a:p>
          <a:p>
            <a:pPr lvl="1"/>
            <a:r>
              <a:rPr lang="en-GB" dirty="0" smtClean="0"/>
              <a:t>Offline – 0.18</a:t>
            </a:r>
            <a:endParaRPr lang="en-GB" dirty="0"/>
          </a:p>
        </p:txBody>
      </p:sp>
      <p:pic>
        <p:nvPicPr>
          <p:cNvPr id="4" name="Picture 3"/>
          <p:cNvPicPr>
            <a:picLocks noChangeAspect="1"/>
          </p:cNvPicPr>
          <p:nvPr/>
        </p:nvPicPr>
        <p:blipFill>
          <a:blip r:embed="rId2"/>
          <a:stretch>
            <a:fillRect/>
          </a:stretch>
        </p:blipFill>
        <p:spPr>
          <a:xfrm>
            <a:off x="288086" y="1619806"/>
            <a:ext cx="2755875" cy="4328803"/>
          </a:xfrm>
          <a:prstGeom prst="rect">
            <a:avLst/>
          </a:prstGeom>
        </p:spPr>
      </p:pic>
      <p:pic>
        <p:nvPicPr>
          <p:cNvPr id="5" name="Picture 4"/>
          <p:cNvPicPr>
            <a:picLocks noChangeAspect="1"/>
          </p:cNvPicPr>
          <p:nvPr/>
        </p:nvPicPr>
        <p:blipFill>
          <a:blip r:embed="rId3"/>
          <a:stretch>
            <a:fillRect/>
          </a:stretch>
        </p:blipFill>
        <p:spPr>
          <a:xfrm>
            <a:off x="8630065" y="1443807"/>
            <a:ext cx="3159198" cy="4680799"/>
          </a:xfrm>
          <a:prstGeom prst="rect">
            <a:avLst/>
          </a:prstGeom>
        </p:spPr>
      </p:pic>
    </p:spTree>
    <p:extLst>
      <p:ext uri="{BB962C8B-B14F-4D97-AF65-F5344CB8AC3E}">
        <p14:creationId xmlns:p14="http://schemas.microsoft.com/office/powerpoint/2010/main" val="9363051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Other analysis</a:t>
            </a:r>
            <a:endParaRPr lang="en-GB" dirty="0"/>
          </a:p>
        </p:txBody>
      </p:sp>
      <p:sp>
        <p:nvSpPr>
          <p:cNvPr id="3" name="Content Placeholder 2"/>
          <p:cNvSpPr>
            <a:spLocks noGrp="1"/>
          </p:cNvSpPr>
          <p:nvPr>
            <p:ph idx="1"/>
          </p:nvPr>
        </p:nvSpPr>
        <p:spPr>
          <a:xfrm>
            <a:off x="1451580" y="2015732"/>
            <a:ext cx="5663228" cy="3450613"/>
          </a:xfrm>
        </p:spPr>
        <p:txBody>
          <a:bodyPr/>
          <a:lstStyle/>
          <a:p>
            <a:r>
              <a:rPr lang="en-GB" dirty="0" smtClean="0"/>
              <a:t>As we can see scooter/motorbikes are the most efficient at meeting demand and meet the most demand per rider</a:t>
            </a:r>
          </a:p>
          <a:p>
            <a:r>
              <a:rPr lang="en-GB" dirty="0" smtClean="0"/>
              <a:t>Unsurprising, given that they are the only Vehicle Type that is entirely motorised</a:t>
            </a:r>
          </a:p>
          <a:p>
            <a:r>
              <a:rPr lang="en-GB" dirty="0" smtClean="0"/>
              <a:t>In a separate analysis we see that uptake is always just shy of 100% with minimal differences across many categories</a:t>
            </a:r>
            <a:endParaRPr lang="en-GB" dirty="0"/>
          </a:p>
        </p:txBody>
      </p:sp>
      <p:pic>
        <p:nvPicPr>
          <p:cNvPr id="6" name="Picture 5"/>
          <p:cNvPicPr>
            <a:picLocks noChangeAspect="1"/>
          </p:cNvPicPr>
          <p:nvPr/>
        </p:nvPicPr>
        <p:blipFill>
          <a:blip r:embed="rId2"/>
          <a:stretch>
            <a:fillRect/>
          </a:stretch>
        </p:blipFill>
        <p:spPr>
          <a:xfrm>
            <a:off x="9741921" y="1005452"/>
            <a:ext cx="2197213" cy="4864350"/>
          </a:xfrm>
          <a:prstGeom prst="rect">
            <a:avLst/>
          </a:prstGeom>
        </p:spPr>
      </p:pic>
      <p:pic>
        <p:nvPicPr>
          <p:cNvPr id="7" name="Picture 6"/>
          <p:cNvPicPr>
            <a:picLocks noChangeAspect="1"/>
          </p:cNvPicPr>
          <p:nvPr/>
        </p:nvPicPr>
        <p:blipFill>
          <a:blip r:embed="rId3"/>
          <a:stretch>
            <a:fillRect/>
          </a:stretch>
        </p:blipFill>
        <p:spPr>
          <a:xfrm>
            <a:off x="7324275" y="1005452"/>
            <a:ext cx="2286117" cy="4845299"/>
          </a:xfrm>
          <a:prstGeom prst="rect">
            <a:avLst/>
          </a:prstGeom>
        </p:spPr>
      </p:pic>
    </p:spTree>
    <p:extLst>
      <p:ext uri="{BB962C8B-B14F-4D97-AF65-F5344CB8AC3E}">
        <p14:creationId xmlns:p14="http://schemas.microsoft.com/office/powerpoint/2010/main" val="1240817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Overall assessment</a:t>
            </a:r>
            <a:endParaRPr lang="en-GB" dirty="0"/>
          </a:p>
        </p:txBody>
      </p:sp>
      <p:sp>
        <p:nvSpPr>
          <p:cNvPr id="3" name="Content Placeholder 2"/>
          <p:cNvSpPr>
            <a:spLocks noGrp="1"/>
          </p:cNvSpPr>
          <p:nvPr>
            <p:ph idx="1"/>
          </p:nvPr>
        </p:nvSpPr>
        <p:spPr>
          <a:xfrm>
            <a:off x="577970" y="1853755"/>
            <a:ext cx="11291977" cy="4227868"/>
          </a:xfrm>
        </p:spPr>
        <p:txBody>
          <a:bodyPr>
            <a:normAutofit fontScale="85000" lnSpcReduction="10000"/>
          </a:bodyPr>
          <a:lstStyle/>
          <a:p>
            <a:r>
              <a:rPr lang="en-US" dirty="0" smtClean="0"/>
              <a:t>The </a:t>
            </a:r>
            <a:r>
              <a:rPr lang="en-US" dirty="0"/>
              <a:t>referral scheme</a:t>
            </a:r>
            <a:r>
              <a:rPr lang="en-GB" dirty="0" smtClean="0"/>
              <a:t> </a:t>
            </a:r>
            <a:r>
              <a:rPr lang="en-GB" dirty="0" smtClean="0"/>
              <a:t>is the 2</a:t>
            </a:r>
            <a:r>
              <a:rPr lang="en-GB" baseline="30000" dirty="0" smtClean="0"/>
              <a:t>nd</a:t>
            </a:r>
            <a:r>
              <a:rPr lang="en-GB" dirty="0" smtClean="0"/>
              <a:t> biggest source of riders, driven heavily by riders in </a:t>
            </a:r>
            <a:r>
              <a:rPr lang="en-GB" dirty="0" smtClean="0"/>
              <a:t>New York </a:t>
            </a:r>
            <a:endParaRPr lang="en-GB" dirty="0" smtClean="0"/>
          </a:p>
          <a:p>
            <a:r>
              <a:rPr lang="en-US" dirty="0" smtClean="0"/>
              <a:t>The </a:t>
            </a:r>
            <a:r>
              <a:rPr lang="en-US" dirty="0"/>
              <a:t>referral scheme</a:t>
            </a:r>
            <a:r>
              <a:rPr lang="en-GB" dirty="0" smtClean="0"/>
              <a:t> </a:t>
            </a:r>
            <a:r>
              <a:rPr lang="en-GB" dirty="0" smtClean="0"/>
              <a:t>is still </a:t>
            </a:r>
            <a:r>
              <a:rPr lang="en-GB" dirty="0" err="1" smtClean="0"/>
              <a:t>Roo</a:t>
            </a:r>
            <a:r>
              <a:rPr lang="en-GB" dirty="0" smtClean="0"/>
              <a:t> da Janeiro’s second biggest source of riders</a:t>
            </a:r>
          </a:p>
          <a:p>
            <a:r>
              <a:rPr lang="en-US" dirty="0" smtClean="0"/>
              <a:t>The </a:t>
            </a:r>
            <a:r>
              <a:rPr lang="en-US" dirty="0"/>
              <a:t>referral scheme</a:t>
            </a:r>
            <a:r>
              <a:rPr lang="en-GB" dirty="0" smtClean="0"/>
              <a:t> </a:t>
            </a:r>
            <a:r>
              <a:rPr lang="en-GB" dirty="0" smtClean="0"/>
              <a:t>contributes to under half of scooter/motorbike riders – these naturally have higher throughput than bikes</a:t>
            </a:r>
          </a:p>
          <a:p>
            <a:r>
              <a:rPr lang="en-GB" dirty="0" smtClean="0"/>
              <a:t>Referred riders are the most available given that they put in the most hours on average compared to other channels</a:t>
            </a:r>
          </a:p>
          <a:p>
            <a:r>
              <a:rPr lang="en-GB" dirty="0" smtClean="0"/>
              <a:t>Referred riders meet the most demand per head compared to other channels</a:t>
            </a:r>
          </a:p>
          <a:p>
            <a:r>
              <a:rPr lang="en-GB" dirty="0" smtClean="0"/>
              <a:t>Referred riders are the 2</a:t>
            </a:r>
            <a:r>
              <a:rPr lang="en-GB" baseline="30000" dirty="0" smtClean="0"/>
              <a:t>nd</a:t>
            </a:r>
            <a:r>
              <a:rPr lang="en-GB" dirty="0" smtClean="0"/>
              <a:t> most efficient at meeting demand when normalising data for vehicle and city combinations</a:t>
            </a:r>
          </a:p>
          <a:p>
            <a:r>
              <a:rPr lang="en-GB" dirty="0" smtClean="0"/>
              <a:t>Referred riders have the best retention and have especially good retention for scooter/motorbikes </a:t>
            </a:r>
          </a:p>
          <a:p>
            <a:r>
              <a:rPr lang="en-GB" dirty="0" smtClean="0"/>
              <a:t>Referred riders are also the most likely to successfully refer another rider as well – effectively inducing a </a:t>
            </a:r>
            <a:r>
              <a:rPr lang="en-GB" dirty="0" smtClean="0"/>
              <a:t>“snowball” </a:t>
            </a:r>
            <a:r>
              <a:rPr lang="en-GB" dirty="0" smtClean="0"/>
              <a:t>effect for our fleet</a:t>
            </a:r>
            <a:endParaRPr lang="en-GB" dirty="0"/>
          </a:p>
        </p:txBody>
      </p:sp>
    </p:spTree>
    <p:extLst>
      <p:ext uri="{BB962C8B-B14F-4D97-AF65-F5344CB8AC3E}">
        <p14:creationId xmlns:p14="http://schemas.microsoft.com/office/powerpoint/2010/main" val="4054328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Has </a:t>
            </a:r>
            <a:r>
              <a:rPr lang="en-GB" smtClean="0"/>
              <a:t>rgr </a:t>
            </a:r>
            <a:r>
              <a:rPr lang="en-GB" dirty="0" smtClean="0"/>
              <a:t>been a success?</a:t>
            </a:r>
            <a:endParaRPr lang="en-GB" dirty="0"/>
          </a:p>
        </p:txBody>
      </p:sp>
      <p:sp>
        <p:nvSpPr>
          <p:cNvPr id="3" name="Content Placeholder 2"/>
          <p:cNvSpPr>
            <a:spLocks noGrp="1"/>
          </p:cNvSpPr>
          <p:nvPr>
            <p:ph idx="1"/>
          </p:nvPr>
        </p:nvSpPr>
        <p:spPr>
          <a:xfrm>
            <a:off x="414068" y="2015732"/>
            <a:ext cx="11421373" cy="3453415"/>
          </a:xfrm>
        </p:spPr>
        <p:txBody>
          <a:bodyPr>
            <a:normAutofit fontScale="92500" lnSpcReduction="20000"/>
          </a:bodyPr>
          <a:lstStyle/>
          <a:p>
            <a:r>
              <a:rPr lang="en-US" dirty="0" smtClean="0"/>
              <a:t>The </a:t>
            </a:r>
            <a:r>
              <a:rPr lang="en-US" dirty="0"/>
              <a:t>referral scheme</a:t>
            </a:r>
            <a:r>
              <a:rPr lang="en-GB" dirty="0" smtClean="0"/>
              <a:t> </a:t>
            </a:r>
            <a:r>
              <a:rPr lang="en-GB" dirty="0" smtClean="0"/>
              <a:t>consistently performed well across all metrics of success analysed </a:t>
            </a:r>
            <a:r>
              <a:rPr lang="en-GB" dirty="0"/>
              <a:t>by either exceeding or keeping up with the other well performing </a:t>
            </a:r>
            <a:r>
              <a:rPr lang="en-GB" dirty="0" smtClean="0"/>
              <a:t>channels</a:t>
            </a:r>
          </a:p>
          <a:p>
            <a:r>
              <a:rPr lang="en-GB" dirty="0" smtClean="0"/>
              <a:t>It already </a:t>
            </a:r>
            <a:r>
              <a:rPr lang="en-GB" dirty="0"/>
              <a:t>pulls in a good chunk of our current </a:t>
            </a:r>
            <a:r>
              <a:rPr lang="en-GB" dirty="0" smtClean="0"/>
              <a:t>fleet with the second highest acquisition volume</a:t>
            </a:r>
          </a:p>
          <a:p>
            <a:r>
              <a:rPr lang="en-GB" dirty="0" smtClean="0"/>
              <a:t>It is our best source of individual service for availability and the meeting of demand, and these riders </a:t>
            </a:r>
            <a:r>
              <a:rPr lang="en-GB" dirty="0"/>
              <a:t>stick around the </a:t>
            </a:r>
            <a:r>
              <a:rPr lang="en-GB" dirty="0" smtClean="0"/>
              <a:t>longest</a:t>
            </a:r>
          </a:p>
          <a:p>
            <a:r>
              <a:rPr lang="en-GB" dirty="0" smtClean="0"/>
              <a:t>In </a:t>
            </a:r>
            <a:r>
              <a:rPr lang="en-GB" dirty="0"/>
              <a:t>addition, they are the most effective at successfully referring other </a:t>
            </a:r>
            <a:r>
              <a:rPr lang="en-GB" dirty="0" smtClean="0"/>
              <a:t>riders </a:t>
            </a:r>
            <a:r>
              <a:rPr lang="en-GB" dirty="0"/>
              <a:t>– creating a “snow ball” effect for our </a:t>
            </a:r>
            <a:r>
              <a:rPr lang="en-GB" dirty="0" smtClean="0"/>
              <a:t>fleet</a:t>
            </a:r>
          </a:p>
          <a:p>
            <a:r>
              <a:rPr lang="en-GB" dirty="0"/>
              <a:t>Therefore based on the analysis conducted with the data we have, I would call it a success so </a:t>
            </a:r>
            <a:r>
              <a:rPr lang="en-GB" dirty="0" smtClean="0"/>
              <a:t>far, but more so in </a:t>
            </a:r>
            <a:r>
              <a:rPr lang="en-GB" dirty="0" smtClean="0"/>
              <a:t>New York </a:t>
            </a:r>
            <a:r>
              <a:rPr lang="en-GB" dirty="0" smtClean="0"/>
              <a:t>and for Scooter/Rider riders than anywhere else</a:t>
            </a:r>
            <a:endParaRPr lang="en-GB" dirty="0"/>
          </a:p>
          <a:p>
            <a:endParaRPr lang="en-GB" dirty="0"/>
          </a:p>
          <a:p>
            <a:endParaRPr lang="en-GB" dirty="0" smtClean="0"/>
          </a:p>
          <a:p>
            <a:endParaRPr lang="en-GB" dirty="0"/>
          </a:p>
        </p:txBody>
      </p:sp>
    </p:spTree>
    <p:extLst>
      <p:ext uri="{BB962C8B-B14F-4D97-AF65-F5344CB8AC3E}">
        <p14:creationId xmlns:p14="http://schemas.microsoft.com/office/powerpoint/2010/main" val="1503417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Should we change anything?</a:t>
            </a:r>
            <a:endParaRPr lang="en-GB" dirty="0"/>
          </a:p>
        </p:txBody>
      </p:sp>
      <p:sp>
        <p:nvSpPr>
          <p:cNvPr id="3" name="Content Placeholder 2"/>
          <p:cNvSpPr>
            <a:spLocks noGrp="1"/>
          </p:cNvSpPr>
          <p:nvPr>
            <p:ph idx="1"/>
          </p:nvPr>
        </p:nvSpPr>
        <p:spPr>
          <a:xfrm>
            <a:off x="1186368" y="2007105"/>
            <a:ext cx="10133696" cy="3850230"/>
          </a:xfrm>
        </p:spPr>
        <p:txBody>
          <a:bodyPr>
            <a:normAutofit/>
          </a:bodyPr>
          <a:lstStyle/>
          <a:p>
            <a:r>
              <a:rPr lang="en-US" dirty="0" smtClean="0"/>
              <a:t>The </a:t>
            </a:r>
            <a:r>
              <a:rPr lang="en-US" dirty="0"/>
              <a:t>referral scheme</a:t>
            </a:r>
            <a:r>
              <a:rPr lang="en-GB" dirty="0" smtClean="0"/>
              <a:t> </a:t>
            </a:r>
            <a:r>
              <a:rPr lang="en-GB" dirty="0" smtClean="0"/>
              <a:t>is more successful in </a:t>
            </a:r>
            <a:r>
              <a:rPr lang="en-GB" dirty="0" smtClean="0"/>
              <a:t>New York </a:t>
            </a:r>
            <a:r>
              <a:rPr lang="en-GB" dirty="0" smtClean="0"/>
              <a:t>and Scooters/Motorbikes than </a:t>
            </a:r>
            <a:r>
              <a:rPr lang="en-GB" dirty="0" smtClean="0"/>
              <a:t>Cape Town, Rio de Janeiro </a:t>
            </a:r>
            <a:r>
              <a:rPr lang="en-GB" dirty="0" smtClean="0"/>
              <a:t>and Bikes:</a:t>
            </a:r>
          </a:p>
          <a:p>
            <a:pPr lvl="1"/>
            <a:r>
              <a:rPr lang="en-GB" dirty="0" smtClean="0"/>
              <a:t>Explore this further to determine why </a:t>
            </a:r>
            <a:r>
              <a:rPr lang="en-US" dirty="0"/>
              <a:t>the referral scheme</a:t>
            </a:r>
            <a:r>
              <a:rPr lang="en-GB" dirty="0" smtClean="0"/>
              <a:t> </a:t>
            </a:r>
            <a:r>
              <a:rPr lang="en-GB" dirty="0" smtClean="0"/>
              <a:t>is not as successful here</a:t>
            </a:r>
          </a:p>
          <a:p>
            <a:pPr lvl="2"/>
            <a:r>
              <a:rPr lang="en-US" dirty="0"/>
              <a:t>Investigate local conditions (e.g., demand, rider incentives, marketing) to understand why </a:t>
            </a:r>
            <a:r>
              <a:rPr lang="en-US" dirty="0"/>
              <a:t>the referral scheme </a:t>
            </a:r>
            <a:r>
              <a:rPr lang="en-US" dirty="0" smtClean="0"/>
              <a:t>underperforms</a:t>
            </a:r>
            <a:endParaRPr lang="en-US" dirty="0" smtClean="0"/>
          </a:p>
          <a:p>
            <a:pPr lvl="2"/>
            <a:r>
              <a:rPr lang="en-US" dirty="0" smtClean="0"/>
              <a:t>Investigate what makes referrals a success in </a:t>
            </a:r>
            <a:r>
              <a:rPr lang="en-US" dirty="0" smtClean="0"/>
              <a:t>New York </a:t>
            </a:r>
            <a:r>
              <a:rPr lang="en-US" dirty="0" smtClean="0"/>
              <a:t>and Scooters/Motorbikes and compare that across</a:t>
            </a:r>
          </a:p>
          <a:p>
            <a:pPr lvl="2"/>
            <a:r>
              <a:rPr lang="en-US" dirty="0" smtClean="0"/>
              <a:t>If </a:t>
            </a:r>
            <a:r>
              <a:rPr lang="en-US" dirty="0"/>
              <a:t>the underlying issues can be addressed, replicate </a:t>
            </a:r>
            <a:r>
              <a:rPr lang="en-US" dirty="0"/>
              <a:t>the referral </a:t>
            </a:r>
            <a:r>
              <a:rPr lang="en-US" dirty="0" smtClean="0"/>
              <a:t>scheme’s </a:t>
            </a:r>
            <a:r>
              <a:rPr lang="en-US" dirty="0"/>
              <a:t>success from </a:t>
            </a:r>
            <a:r>
              <a:rPr lang="en-US" dirty="0" smtClean="0"/>
              <a:t>New York </a:t>
            </a:r>
            <a:r>
              <a:rPr lang="en-US" dirty="0" smtClean="0"/>
              <a:t>and Motorbikes/Scooters in </a:t>
            </a:r>
            <a:r>
              <a:rPr lang="en-US" dirty="0" smtClean="0"/>
              <a:t>Rio de Janeiro </a:t>
            </a:r>
            <a:r>
              <a:rPr lang="en-US" dirty="0" smtClean="0"/>
              <a:t>and </a:t>
            </a:r>
            <a:r>
              <a:rPr lang="en-US" dirty="0" smtClean="0"/>
              <a:t>Cape Town, </a:t>
            </a:r>
            <a:r>
              <a:rPr lang="en-US" dirty="0" smtClean="0"/>
              <a:t>and with Bicycles</a:t>
            </a:r>
            <a:endParaRPr lang="en-GB" dirty="0" smtClean="0"/>
          </a:p>
        </p:txBody>
      </p:sp>
    </p:spTree>
    <p:extLst>
      <p:ext uri="{BB962C8B-B14F-4D97-AF65-F5344CB8AC3E}">
        <p14:creationId xmlns:p14="http://schemas.microsoft.com/office/powerpoint/2010/main" val="31016147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Should we change anything?</a:t>
            </a:r>
            <a:endParaRPr lang="en-GB" dirty="0"/>
          </a:p>
        </p:txBody>
      </p:sp>
      <p:sp>
        <p:nvSpPr>
          <p:cNvPr id="3" name="Content Placeholder 2"/>
          <p:cNvSpPr>
            <a:spLocks noGrp="1"/>
          </p:cNvSpPr>
          <p:nvPr>
            <p:ph idx="1"/>
          </p:nvPr>
        </p:nvSpPr>
        <p:spPr>
          <a:xfrm>
            <a:off x="1451579" y="2015732"/>
            <a:ext cx="9603275" cy="3850230"/>
          </a:xfrm>
        </p:spPr>
        <p:txBody>
          <a:bodyPr>
            <a:normAutofit fontScale="92500" lnSpcReduction="10000"/>
          </a:bodyPr>
          <a:lstStyle/>
          <a:p>
            <a:r>
              <a:rPr lang="en-GB" dirty="0" smtClean="0"/>
              <a:t>Retention rates and throughput for scooters/motorbikes are much better, so we could either:</a:t>
            </a:r>
          </a:p>
          <a:p>
            <a:pPr lvl="1"/>
            <a:r>
              <a:rPr lang="en-US" dirty="0"/>
              <a:t>Double down on this success—offer targeted incentives or campaigns to bring more scooter/motorbike riders through </a:t>
            </a:r>
            <a:r>
              <a:rPr lang="en-US" dirty="0"/>
              <a:t>the referral scheme</a:t>
            </a:r>
            <a:endParaRPr lang="en-US" dirty="0" smtClean="0"/>
          </a:p>
          <a:p>
            <a:pPr lvl="1"/>
            <a:r>
              <a:rPr lang="en-GB" dirty="0" smtClean="0"/>
              <a:t>Or look to address the retention of bikes, by </a:t>
            </a:r>
            <a:r>
              <a:rPr lang="en-US" dirty="0" smtClean="0"/>
              <a:t>exploring </a:t>
            </a:r>
            <a:r>
              <a:rPr lang="en-US" dirty="0"/>
              <a:t>reasons why bike riders leave earlier, then adjust the referral incentive or onboarding </a:t>
            </a:r>
            <a:r>
              <a:rPr lang="en-US" dirty="0" smtClean="0"/>
              <a:t>process</a:t>
            </a:r>
          </a:p>
          <a:p>
            <a:r>
              <a:rPr lang="en-US" dirty="0" smtClean="0"/>
              <a:t>The </a:t>
            </a:r>
            <a:r>
              <a:rPr lang="en-US" dirty="0"/>
              <a:t>referral scheme </a:t>
            </a:r>
            <a:r>
              <a:rPr lang="en-US" dirty="0" smtClean="0"/>
              <a:t>brings in good riders, but </a:t>
            </a:r>
            <a:r>
              <a:rPr lang="en-US" dirty="0" smtClean="0"/>
              <a:t>it’s </a:t>
            </a:r>
            <a:r>
              <a:rPr lang="en-US" dirty="0" smtClean="0"/>
              <a:t>not bringing in many riders in </a:t>
            </a:r>
            <a:r>
              <a:rPr lang="en-US" dirty="0" smtClean="0"/>
              <a:t>Rio de Janeiro </a:t>
            </a:r>
            <a:r>
              <a:rPr lang="en-US" dirty="0" smtClean="0"/>
              <a:t>and </a:t>
            </a:r>
            <a:r>
              <a:rPr lang="en-US" dirty="0" smtClean="0"/>
              <a:t>Cape Town </a:t>
            </a:r>
            <a:r>
              <a:rPr lang="en-US" dirty="0" smtClean="0"/>
              <a:t>compared to </a:t>
            </a:r>
            <a:r>
              <a:rPr lang="en-US" dirty="0" smtClean="0"/>
              <a:t>New York</a:t>
            </a:r>
            <a:endParaRPr lang="en-US" dirty="0" smtClean="0"/>
          </a:p>
          <a:p>
            <a:pPr lvl="1"/>
            <a:r>
              <a:rPr lang="en-US" dirty="0" smtClean="0"/>
              <a:t>Focus on enhancing </a:t>
            </a:r>
            <a:r>
              <a:rPr lang="en-US" dirty="0"/>
              <a:t>the referral scheme </a:t>
            </a:r>
            <a:r>
              <a:rPr lang="en-US" dirty="0" smtClean="0"/>
              <a:t>in </a:t>
            </a:r>
            <a:r>
              <a:rPr lang="en-US" dirty="0" smtClean="0"/>
              <a:t>Rio de Janeiro </a:t>
            </a:r>
            <a:r>
              <a:rPr lang="en-US" dirty="0" smtClean="0"/>
              <a:t>and </a:t>
            </a:r>
            <a:r>
              <a:rPr lang="en-US" dirty="0" smtClean="0"/>
              <a:t>Cape Town </a:t>
            </a:r>
            <a:r>
              <a:rPr lang="en-US" dirty="0" smtClean="0"/>
              <a:t>to break into these cities better</a:t>
            </a:r>
          </a:p>
          <a:p>
            <a:r>
              <a:rPr lang="en-US" dirty="0" smtClean="0"/>
              <a:t>Referred riders successfully refer the most riders, so try targeted referral incentives to those referred to enhance the “snow ball” effect</a:t>
            </a:r>
          </a:p>
        </p:txBody>
      </p:sp>
    </p:spTree>
    <p:extLst>
      <p:ext uri="{BB962C8B-B14F-4D97-AF65-F5344CB8AC3E}">
        <p14:creationId xmlns:p14="http://schemas.microsoft.com/office/powerpoint/2010/main" val="3332880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to do next</a:t>
            </a:r>
            <a:endParaRPr lang="en-GB" dirty="0"/>
          </a:p>
        </p:txBody>
      </p:sp>
      <p:sp>
        <p:nvSpPr>
          <p:cNvPr id="3" name="Content Placeholder 2"/>
          <p:cNvSpPr>
            <a:spLocks noGrp="1"/>
          </p:cNvSpPr>
          <p:nvPr>
            <p:ph idx="1"/>
          </p:nvPr>
        </p:nvSpPr>
        <p:spPr>
          <a:xfrm>
            <a:off x="1451579" y="2015732"/>
            <a:ext cx="9831771" cy="4022759"/>
          </a:xfrm>
        </p:spPr>
        <p:txBody>
          <a:bodyPr>
            <a:normAutofit/>
          </a:bodyPr>
          <a:lstStyle/>
          <a:p>
            <a:r>
              <a:rPr lang="en-GB" dirty="0" smtClean="0"/>
              <a:t>Obtain more data to do a more rigorous analysis of success and get a better sense at how </a:t>
            </a:r>
            <a:r>
              <a:rPr lang="en-US" dirty="0"/>
              <a:t>the referral scheme</a:t>
            </a:r>
            <a:r>
              <a:rPr lang="en-GB" dirty="0" smtClean="0"/>
              <a:t> </a:t>
            </a:r>
            <a:r>
              <a:rPr lang="en-GB" dirty="0" smtClean="0"/>
              <a:t>is effective in these regards:</a:t>
            </a:r>
          </a:p>
          <a:p>
            <a:pPr lvl="1"/>
            <a:r>
              <a:rPr lang="en-GB" dirty="0" smtClean="0"/>
              <a:t>Quality </a:t>
            </a:r>
            <a:r>
              <a:rPr lang="en-GB" dirty="0"/>
              <a:t>of riders</a:t>
            </a:r>
          </a:p>
          <a:p>
            <a:pPr lvl="2"/>
            <a:r>
              <a:rPr lang="en-GB" dirty="0"/>
              <a:t>Rider rating</a:t>
            </a:r>
          </a:p>
          <a:p>
            <a:pPr lvl="2"/>
            <a:r>
              <a:rPr lang="en-GB" dirty="0"/>
              <a:t>Rider </a:t>
            </a:r>
            <a:r>
              <a:rPr lang="en-GB" dirty="0" smtClean="0"/>
              <a:t>feedback</a:t>
            </a:r>
          </a:p>
          <a:p>
            <a:pPr lvl="3"/>
            <a:r>
              <a:rPr lang="en-GB" dirty="0" smtClean="0"/>
              <a:t>Potentially some sentiment analysis</a:t>
            </a:r>
            <a:endParaRPr lang="en-GB" dirty="0"/>
          </a:p>
          <a:p>
            <a:pPr lvl="2"/>
            <a:r>
              <a:rPr lang="en-GB" dirty="0"/>
              <a:t>Rider speed/unit </a:t>
            </a:r>
            <a:r>
              <a:rPr lang="en-GB" dirty="0" smtClean="0"/>
              <a:t>congestion </a:t>
            </a:r>
          </a:p>
          <a:p>
            <a:pPr lvl="3"/>
            <a:r>
              <a:rPr lang="en-GB" dirty="0" smtClean="0"/>
              <a:t>Need to get hold of traffic congestion data for this</a:t>
            </a:r>
            <a:endParaRPr lang="en-GB" dirty="0"/>
          </a:p>
          <a:p>
            <a:pPr lvl="2"/>
            <a:r>
              <a:rPr lang="en-GB" dirty="0"/>
              <a:t>On-time delivery rate</a:t>
            </a:r>
          </a:p>
          <a:p>
            <a:pPr lvl="2"/>
            <a:r>
              <a:rPr lang="en-GB" dirty="0"/>
              <a:t>On-time delivery </a:t>
            </a:r>
            <a:r>
              <a:rPr lang="en-GB" dirty="0" smtClean="0"/>
              <a:t>discrepancy</a:t>
            </a:r>
            <a:endParaRPr lang="en-GB" dirty="0"/>
          </a:p>
          <a:p>
            <a:endParaRPr lang="en-GB" dirty="0"/>
          </a:p>
        </p:txBody>
      </p:sp>
    </p:spTree>
    <p:extLst>
      <p:ext uri="{BB962C8B-B14F-4D97-AF65-F5344CB8AC3E}">
        <p14:creationId xmlns:p14="http://schemas.microsoft.com/office/powerpoint/2010/main" val="3963508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to do next</a:t>
            </a:r>
            <a:endParaRPr lang="en-GB" dirty="0"/>
          </a:p>
        </p:txBody>
      </p:sp>
      <p:sp>
        <p:nvSpPr>
          <p:cNvPr id="3" name="Content Placeholder 2"/>
          <p:cNvSpPr>
            <a:spLocks noGrp="1"/>
          </p:cNvSpPr>
          <p:nvPr>
            <p:ph idx="1"/>
          </p:nvPr>
        </p:nvSpPr>
        <p:spPr>
          <a:xfrm>
            <a:off x="1451579" y="2015732"/>
            <a:ext cx="9831771" cy="4022759"/>
          </a:xfrm>
        </p:spPr>
        <p:txBody>
          <a:bodyPr>
            <a:normAutofit/>
          </a:bodyPr>
          <a:lstStyle/>
          <a:p>
            <a:r>
              <a:rPr lang="en-GB" dirty="0" smtClean="0"/>
              <a:t>Obtain more data to do a more rigorous analysis of success and get a better sense at how </a:t>
            </a:r>
            <a:r>
              <a:rPr lang="en-US" dirty="0"/>
              <a:t>the referral scheme</a:t>
            </a:r>
            <a:r>
              <a:rPr lang="en-GB" dirty="0" smtClean="0"/>
              <a:t> </a:t>
            </a:r>
            <a:r>
              <a:rPr lang="en-GB" dirty="0" smtClean="0"/>
              <a:t>is effective in these regards:</a:t>
            </a:r>
          </a:p>
          <a:p>
            <a:pPr lvl="1"/>
            <a:r>
              <a:rPr lang="en-GB" dirty="0" smtClean="0"/>
              <a:t>ROI </a:t>
            </a:r>
            <a:r>
              <a:rPr lang="en-GB" dirty="0"/>
              <a:t>on riders</a:t>
            </a:r>
          </a:p>
          <a:p>
            <a:pPr lvl="2"/>
            <a:r>
              <a:rPr lang="en-GB" dirty="0"/>
              <a:t>Referral cost/operational profit </a:t>
            </a:r>
            <a:r>
              <a:rPr lang="en-GB" dirty="0" smtClean="0"/>
              <a:t>rate</a:t>
            </a:r>
          </a:p>
          <a:p>
            <a:pPr lvl="3"/>
            <a:r>
              <a:rPr lang="en-GB" dirty="0" smtClean="0"/>
              <a:t>Data for </a:t>
            </a:r>
            <a:r>
              <a:rPr lang="en-GB" dirty="0"/>
              <a:t>c</a:t>
            </a:r>
            <a:r>
              <a:rPr lang="en-GB" dirty="0" smtClean="0"/>
              <a:t>ost of referral</a:t>
            </a:r>
          </a:p>
          <a:p>
            <a:pPr lvl="3"/>
            <a:r>
              <a:rPr lang="en-GB" dirty="0" smtClean="0"/>
              <a:t>Data for associated operational cost and revenue associated to each order and rider</a:t>
            </a:r>
            <a:endParaRPr lang="en-GB" dirty="0"/>
          </a:p>
          <a:p>
            <a:pPr lvl="1"/>
            <a:r>
              <a:rPr lang="en-GB" dirty="0"/>
              <a:t>Supply gap plugging of riders</a:t>
            </a:r>
          </a:p>
          <a:p>
            <a:pPr lvl="2"/>
            <a:r>
              <a:rPr lang="en-GB" dirty="0"/>
              <a:t>Orders delivered/unit </a:t>
            </a:r>
            <a:r>
              <a:rPr lang="en-GB" dirty="0" smtClean="0"/>
              <a:t>demand</a:t>
            </a:r>
          </a:p>
          <a:p>
            <a:pPr lvl="3"/>
            <a:r>
              <a:rPr lang="en-GB" dirty="0" smtClean="0"/>
              <a:t>Need a way of predicting/estimating demand</a:t>
            </a:r>
          </a:p>
          <a:p>
            <a:pPr lvl="3"/>
            <a:r>
              <a:rPr lang="en-GB" dirty="0" smtClean="0"/>
              <a:t>Demand at different time and locations</a:t>
            </a:r>
            <a:endParaRPr lang="en-GB" dirty="0"/>
          </a:p>
          <a:p>
            <a:endParaRPr lang="en-GB" dirty="0"/>
          </a:p>
          <a:p>
            <a:endParaRPr lang="en-GB" dirty="0"/>
          </a:p>
        </p:txBody>
      </p:sp>
    </p:spTree>
    <p:extLst>
      <p:ext uri="{BB962C8B-B14F-4D97-AF65-F5344CB8AC3E}">
        <p14:creationId xmlns:p14="http://schemas.microsoft.com/office/powerpoint/2010/main" val="1418376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to do next</a:t>
            </a:r>
            <a:endParaRPr lang="en-GB" dirty="0"/>
          </a:p>
        </p:txBody>
      </p:sp>
      <p:sp>
        <p:nvSpPr>
          <p:cNvPr id="3" name="Content Placeholder 2"/>
          <p:cNvSpPr>
            <a:spLocks noGrp="1"/>
          </p:cNvSpPr>
          <p:nvPr>
            <p:ph idx="1"/>
          </p:nvPr>
        </p:nvSpPr>
        <p:spPr>
          <a:xfrm>
            <a:off x="1451580" y="2015732"/>
            <a:ext cx="8848360" cy="4022759"/>
          </a:xfrm>
        </p:spPr>
        <p:txBody>
          <a:bodyPr>
            <a:normAutofit/>
          </a:bodyPr>
          <a:lstStyle/>
          <a:p>
            <a:r>
              <a:rPr lang="en-GB" dirty="0" smtClean="0"/>
              <a:t>Identify where “super riders” (top 1% of riders across metrics of success) are and how we can acquire them</a:t>
            </a:r>
          </a:p>
          <a:p>
            <a:r>
              <a:rPr lang="en-GB" dirty="0" smtClean="0"/>
              <a:t>Are referrals good at acquiring super riders?</a:t>
            </a:r>
          </a:p>
          <a:p>
            <a:r>
              <a:rPr lang="en-GB" dirty="0" smtClean="0"/>
              <a:t>Investigate the Unknown acquisition channel to better understand where these riders are coming from</a:t>
            </a:r>
            <a:endParaRPr lang="en-GB" dirty="0"/>
          </a:p>
          <a:p>
            <a:endParaRPr lang="en-GB" dirty="0"/>
          </a:p>
          <a:p>
            <a:endParaRPr lang="en-GB" dirty="0"/>
          </a:p>
        </p:txBody>
      </p:sp>
    </p:spTree>
    <p:extLst>
      <p:ext uri="{BB962C8B-B14F-4D97-AF65-F5344CB8AC3E}">
        <p14:creationId xmlns:p14="http://schemas.microsoft.com/office/powerpoint/2010/main" val="22918548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Conclusion</a:t>
            </a:r>
            <a:endParaRPr lang="en-GB" dirty="0"/>
          </a:p>
        </p:txBody>
      </p:sp>
      <p:sp>
        <p:nvSpPr>
          <p:cNvPr id="3" name="Content Placeholder 2"/>
          <p:cNvSpPr>
            <a:spLocks noGrp="1"/>
          </p:cNvSpPr>
          <p:nvPr>
            <p:ph idx="1"/>
          </p:nvPr>
        </p:nvSpPr>
        <p:spPr>
          <a:xfrm>
            <a:off x="1451579" y="2015732"/>
            <a:ext cx="9603275" cy="4130544"/>
          </a:xfrm>
        </p:spPr>
        <p:txBody>
          <a:bodyPr>
            <a:normAutofit lnSpcReduction="10000"/>
          </a:bodyPr>
          <a:lstStyle/>
          <a:p>
            <a:r>
              <a:rPr lang="en-GB" dirty="0" smtClean="0"/>
              <a:t>From the data we have available, </a:t>
            </a:r>
            <a:r>
              <a:rPr lang="en-US" dirty="0"/>
              <a:t>the referral scheme</a:t>
            </a:r>
            <a:r>
              <a:rPr lang="en-GB" dirty="0" smtClean="0"/>
              <a:t> </a:t>
            </a:r>
            <a:r>
              <a:rPr lang="en-GB" dirty="0" smtClean="0"/>
              <a:t>looks like it’s been a success overall, particularly in </a:t>
            </a:r>
            <a:r>
              <a:rPr lang="en-GB" dirty="0" smtClean="0"/>
              <a:t>New York </a:t>
            </a:r>
            <a:r>
              <a:rPr lang="en-GB" dirty="0" smtClean="0"/>
              <a:t>and for scooter/motorbike riders</a:t>
            </a:r>
          </a:p>
          <a:p>
            <a:r>
              <a:rPr lang="en-GB" dirty="0" smtClean="0"/>
              <a:t>At this point we could:</a:t>
            </a:r>
          </a:p>
          <a:p>
            <a:pPr lvl="1"/>
            <a:r>
              <a:rPr lang="en-GB" dirty="0" smtClean="0"/>
              <a:t>Explore why it hasn’t been as successful in </a:t>
            </a:r>
            <a:r>
              <a:rPr lang="en-GB" dirty="0" smtClean="0"/>
              <a:t>Rio de Janeiro, Cape Town </a:t>
            </a:r>
            <a:r>
              <a:rPr lang="en-GB" dirty="0" smtClean="0"/>
              <a:t>and Bicycles to replicate </a:t>
            </a:r>
            <a:r>
              <a:rPr lang="en-US" dirty="0"/>
              <a:t>the referral </a:t>
            </a:r>
            <a:r>
              <a:rPr lang="en-US" dirty="0" smtClean="0"/>
              <a:t>scheme’s</a:t>
            </a:r>
            <a:r>
              <a:rPr lang="en-GB" dirty="0" smtClean="0"/>
              <a:t> </a:t>
            </a:r>
            <a:r>
              <a:rPr lang="en-GB" dirty="0" smtClean="0"/>
              <a:t>success in </a:t>
            </a:r>
            <a:r>
              <a:rPr lang="en-GB" dirty="0" smtClean="0"/>
              <a:t>New York </a:t>
            </a:r>
            <a:r>
              <a:rPr lang="en-GB" dirty="0" smtClean="0"/>
              <a:t>and with scooters/motorbikes</a:t>
            </a:r>
          </a:p>
          <a:p>
            <a:pPr lvl="1"/>
            <a:r>
              <a:rPr lang="en-GB" dirty="0" smtClean="0"/>
              <a:t>Targeted referral incentive for scooter riders and those acquired via referrals</a:t>
            </a:r>
          </a:p>
          <a:p>
            <a:pPr lvl="1"/>
            <a:r>
              <a:rPr lang="en-GB" dirty="0" smtClean="0"/>
              <a:t>Attain more data to explore the other measures of success such as:</a:t>
            </a:r>
          </a:p>
          <a:p>
            <a:pPr lvl="2"/>
            <a:r>
              <a:rPr lang="en-GB" dirty="0" smtClean="0"/>
              <a:t>Quality of riders</a:t>
            </a:r>
          </a:p>
          <a:p>
            <a:pPr lvl="2"/>
            <a:r>
              <a:rPr lang="en-GB" dirty="0" smtClean="0"/>
              <a:t>ROI of riders</a:t>
            </a:r>
          </a:p>
          <a:p>
            <a:pPr lvl="2"/>
            <a:r>
              <a:rPr lang="en-GB" dirty="0" smtClean="0"/>
              <a:t>Supply gap plugging of riders</a:t>
            </a:r>
          </a:p>
          <a:p>
            <a:pPr lvl="1"/>
            <a:r>
              <a:rPr lang="en-GB" dirty="0" smtClean="0"/>
              <a:t>Investigate where the “Unknown” acquisition channel is bringing in riders from</a:t>
            </a:r>
          </a:p>
          <a:p>
            <a:pPr lvl="1"/>
            <a:endParaRPr lang="en-GB" dirty="0"/>
          </a:p>
        </p:txBody>
      </p:sp>
    </p:spTree>
    <p:extLst>
      <p:ext uri="{BB962C8B-B14F-4D97-AF65-F5344CB8AC3E}">
        <p14:creationId xmlns:p14="http://schemas.microsoft.com/office/powerpoint/2010/main" val="311635550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2395</TotalTime>
  <Words>2297</Words>
  <Application>Microsoft Office PowerPoint</Application>
  <PresentationFormat>Widescreen</PresentationFormat>
  <Paragraphs>223</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Gill Sans MT</vt:lpstr>
      <vt:lpstr>Gallery</vt:lpstr>
      <vt:lpstr>Assessing the effectiveness of a food delivery company’s Referral scheme</vt:lpstr>
      <vt:lpstr>Context &amp; Objectives</vt:lpstr>
      <vt:lpstr>How can we define success for the referral scheme?</vt:lpstr>
      <vt:lpstr>Data fields available</vt:lpstr>
      <vt:lpstr>How can we define success for the referral scheme with the data available?</vt:lpstr>
      <vt:lpstr>How can we define success for the referral scheme that we do not have data available for?</vt:lpstr>
      <vt:lpstr>Data considerations</vt:lpstr>
      <vt:lpstr>Data considerations</vt:lpstr>
      <vt:lpstr>Edge cases</vt:lpstr>
      <vt:lpstr>Edge cases</vt:lpstr>
      <vt:lpstr>Acquisition volume</vt:lpstr>
      <vt:lpstr>Acquisition volume</vt:lpstr>
      <vt:lpstr>availability</vt:lpstr>
      <vt:lpstr>availability</vt:lpstr>
      <vt:lpstr>availability</vt:lpstr>
      <vt:lpstr>Demand met</vt:lpstr>
      <vt:lpstr>Demand met</vt:lpstr>
      <vt:lpstr>Demand met</vt:lpstr>
      <vt:lpstr>Efficiency of Demand met</vt:lpstr>
      <vt:lpstr>Efficiency of Demand met</vt:lpstr>
      <vt:lpstr>Retention rates</vt:lpstr>
      <vt:lpstr>Retention rates</vt:lpstr>
      <vt:lpstr>Successful referrals</vt:lpstr>
      <vt:lpstr>Other analysis</vt:lpstr>
      <vt:lpstr>Overall assessment</vt:lpstr>
      <vt:lpstr>Has rgr been a success?</vt:lpstr>
      <vt:lpstr>Should we change anything?</vt:lpstr>
      <vt:lpstr>Should we change anything?</vt:lpstr>
      <vt:lpstr>What to do next</vt:lpstr>
      <vt:lpstr>What to do next</vt:lpstr>
      <vt:lpstr>What to do next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Assessing the effectiveness of deliveroo’s rgr scheme</dc:title>
  <dc:creator>Farshad Rastgouy</dc:creator>
  <cp:lastModifiedBy>Farshad Rastgouy</cp:lastModifiedBy>
  <cp:revision>92</cp:revision>
  <dcterms:created xsi:type="dcterms:W3CDTF">2025-02-18T21:41:55Z</dcterms:created>
  <dcterms:modified xsi:type="dcterms:W3CDTF">2026-05-05T12:41:16Z</dcterms:modified>
</cp:coreProperties>
</file>